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 agenda, 2 minutes. Set the expectation that shapes the whole session: everything here is built around the question 'would this failure be visible?'. The AI is the part that is easy; the gates are the part that was hard. We will not cover how to write Playwright tests - we assume the room already can.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for their own version of each of these four - 30 seconds each, this is the slide that buys the rest of the session. The last line is the thesis of the whole deck: AI writing a test is not the bottleneck, trusting it is. Everything you will see after this is machinery for that.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20 seconds per card. Two things to land: the artefacts passed between phases are files on disk (a scenario file, a page object, a manifest), not chat history - which is what makes one stage re-runnable on its own. And a human reviews the PR; nothing merges itself. This is the same diagram as WORKFLOW.md, where it is Mermaid source with the three decision flows (the block hash, the healer, the planner).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idea: the scenario file is the source of truth and the only lever. A generated block's hash is taken from its scenario's text, so changing a test means changing the scenario and re-running stage 2. Hand-editing the spec is overwritten on the next digest - that is a feature, it is what makes the generated half reviewable. If someone asks 'so who wrote this line?' the answer is: outside the managed region, a human.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rule that surprises people. No expect() in a spec, ever - it is checked by a self-check that fails the build. The reason is not style: the page object is the capability index, and the classifier asks 'can the page objects express this scenario?'. An assertion hand-rolled in a spec is invisible to that question, so the scenario looks satisfied while the capability is still missing. Assertions in the POM turn a missing capability into a visible build order.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dangerous failure mode here is not red, it is a smaller green run. Three separate defences: tags written by the machinery from the scenario file (never trusted to the model), selection by tag rather than by title, and the planner failing open with an enforced floor. If you take one habit away: when a run is green, ask what it did not run.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halves and the second one is the point. Healing a stale locator is mechanical - there is no model in that path, deliberately: a guessed locator that is wrong does not fail, it asserts against the wrong element and passes. And the healer refuses loudly, because repairing 'the feature is gone' turns a real regression into a green lie. Best story in the deck: the locale guard. /id says 'Portofolio', 0.90 similar to the English 'Portfolio' - without the guard one run against /id would have rewritten the English copy and broken /en.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intellectual core of the session - spend the most time here. Every row is a real thing that happened in this repository, and every one of them was green. Ask the room: 'how would you have caught this?' then point at the third column: a gate in code, not a rule in a prompt. The last row is the one that cannot be fixed by better assertions - the page itself does not render, so ask what the contract is instead.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one-slide summary of the division of labour. If the room remembers one thing from the workshop, make it this table: the left column is where AI adds value, the right column is why you can trust the left. Note that nothing in the right column is a sentence we asked the model to follow - each is code that runs whether the model cooperates or not.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the honest state, including the failing test - it is the best evidence the thing works, because the failure is a real defect the suite found and a person had already reported. Then the hands-on plan: read a scenario, watch stage 2 write the test, break a locator, watch stage 7 heal it and decline a bad one. That loop is the whole system in 20 minutes.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71B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28016"/>
          </a:xfrm>
          <a:prstGeom prst="rect">
            <a:avLst/>
          </a:prstGeom>
          <a:solidFill>
            <a:srgbClr val="2EAD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49808" y="1874519"/>
            <a:ext cx="9960559" cy="1371600"/>
          </a:xfrm>
          <a:prstGeom prst="rect">
            <a:avLst/>
          </a:prstGeom>
          <a:noFill/>
        </p:spPr>
        <p:txBody>
          <a:bodyPr wrap="square" anchor="t" lIns="0" rIns="0" tIns="0" bIns="0">
            <a:spAutoFit/>
          </a:bodyPr>
          <a:lstStyle/>
          <a:p>
            <a:pPr algn="l">
              <a:spcBef>
                <a:spcPts val="0"/>
              </a:spcBef>
              <a:spcAft>
                <a:spcPts val="600"/>
              </a:spcAft>
            </a:pPr>
            <a:r>
              <a:rPr sz="5400" b="1">
                <a:solidFill>
                  <a:srgbClr val="FFFFFF"/>
                </a:solidFill>
                <a:latin typeface="Segoe UI"/>
              </a:rPr>
              <a:t>Playwright</a:t>
            </a:r>
            <a:r>
              <a:rPr sz="5400" b="0">
                <a:solidFill>
                  <a:srgbClr val="2EAD33"/>
                </a:solidFill>
                <a:latin typeface="Segoe UI"/>
              </a:rPr>
              <a:t>  ×  </a:t>
            </a:r>
            <a:r>
              <a:rPr sz="5400" b="1">
                <a:solidFill>
                  <a:srgbClr val="FFFFFF"/>
                </a:solidFill>
                <a:latin typeface="Segoe UI"/>
              </a:rPr>
              <a:t>AI</a:t>
            </a:r>
          </a:p>
          <a:p>
            <a:pPr algn="l">
              <a:spcBef>
                <a:spcPts val="0"/>
              </a:spcBef>
              <a:spcAft>
                <a:spcPts val="0"/>
              </a:spcAft>
            </a:pPr>
            <a:r>
              <a:rPr sz="2100" b="0">
                <a:solidFill>
                  <a:srgbClr val="C7CED8"/>
                </a:solidFill>
                <a:latin typeface="Segoe UI"/>
              </a:rPr>
              <a:t>How an AI test pipeline writes tests you can still trust</a:t>
            </a:r>
          </a:p>
        </p:txBody>
      </p:sp>
      <p:sp>
        <p:nvSpPr>
          <p:cNvPr id="5" name="Rectangle 4"/>
          <p:cNvSpPr/>
          <p:nvPr/>
        </p:nvSpPr>
        <p:spPr>
          <a:xfrm>
            <a:off x="749808" y="3611880"/>
            <a:ext cx="1371600" cy="54864"/>
          </a:xfrm>
          <a:prstGeom prst="rect">
            <a:avLst/>
          </a:prstGeom>
          <a:solidFill>
            <a:srgbClr val="2EAD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749808" y="3913632"/>
            <a:ext cx="9594799" cy="1280160"/>
          </a:xfrm>
          <a:prstGeom prst="rect">
            <a:avLst/>
          </a:prstGeom>
          <a:noFill/>
        </p:spPr>
        <p:txBody>
          <a:bodyPr wrap="square" anchor="t" lIns="0" rIns="0" tIns="0" bIns="0">
            <a:spAutoFit/>
          </a:bodyPr>
          <a:lstStyle/>
          <a:p>
            <a:pPr algn="l">
              <a:spcBef>
                <a:spcPts val="0"/>
              </a:spcBef>
              <a:spcAft>
                <a:spcPts val="1200"/>
              </a:spcAft>
            </a:pPr>
            <a:r>
              <a:rPr sz="1450" b="1">
                <a:solidFill>
                  <a:srgbClr val="E7EAF0"/>
                </a:solidFill>
                <a:latin typeface="Segoe UI"/>
              </a:rPr>
              <a:t>QA workshop</a:t>
            </a:r>
            <a:r>
              <a:rPr sz="1450" b="0">
                <a:solidFill>
                  <a:srgbClr val="9AA2AE"/>
                </a:solidFill>
                <a:latin typeface="Segoe UI"/>
              </a:rPr>
              <a:t>  ·  an introduction to the mechanism  ·  2 hours</a:t>
            </a:r>
          </a:p>
          <a:p>
            <a:pPr algn="l">
              <a:spcBef>
                <a:spcPts val="0"/>
              </a:spcBef>
              <a:spcAft>
                <a:spcPts val="0"/>
              </a:spcAft>
            </a:pPr>
            <a:r>
              <a:rPr sz="1450" b="0">
                <a:solidFill>
                  <a:srgbClr val="9AA2AE"/>
                </a:solidFill>
                <a:latin typeface="Segoe UI"/>
              </a:rPr>
              <a:t>8 stages · issue in, reviewed PR out · AI proposes, code enforces</a:t>
            </a:r>
          </a:p>
        </p:txBody>
      </p:sp>
      <p:sp>
        <p:nvSpPr>
          <p:cNvPr id="7" name="TextBox 6"/>
          <p:cNvSpPr txBox="1"/>
          <p:nvPr/>
        </p:nvSpPr>
        <p:spPr>
          <a:xfrm>
            <a:off x="749808" y="6172200"/>
            <a:ext cx="9960559" cy="274320"/>
          </a:xfrm>
          <a:prstGeom prst="rect">
            <a:avLst/>
          </a:prstGeom>
          <a:noFill/>
        </p:spPr>
        <p:txBody>
          <a:bodyPr wrap="square" anchor="t" lIns="0" rIns="0" tIns="0" bIns="0">
            <a:spAutoFit/>
          </a:bodyPr>
          <a:lstStyle/>
          <a:p>
            <a:pPr algn="l">
              <a:spcBef>
                <a:spcPts val="0"/>
              </a:spcBef>
              <a:spcAft>
                <a:spcPts val="0"/>
              </a:spcAft>
            </a:pPr>
            <a:r>
              <a:rPr sz="1100" b="0">
                <a:solidFill>
                  <a:srgbClr val="6B7280"/>
                </a:solidFill>
                <a:latin typeface="Segoe UI"/>
              </a:rPr>
              <a:t>The pipeline described here is the boilerplate in this repository — a pattern, not a library.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58368"/>
          </a:xfrm>
          <a:prstGeom prst="rect">
            <a:avLst/>
          </a:prstGeom>
          <a:noFill/>
        </p:spPr>
        <p:txBody>
          <a:bodyPr wrap="square" anchor="t" lIns="0" rIns="0" tIns="0" bIns="0">
            <a:spAutoFit/>
          </a:bodyPr>
          <a:lstStyle/>
          <a:p>
            <a:pPr algn="l">
              <a:spcBef>
                <a:spcPts val="0"/>
              </a:spcBef>
              <a:spcAft>
                <a:spcPts val="0"/>
              </a:spcAft>
            </a:pPr>
            <a:r>
              <a:rPr sz="2900" b="0">
                <a:solidFill>
                  <a:srgbClr val="171B23"/>
                </a:solidFill>
                <a:latin typeface="Segoe UI"/>
              </a:rPr>
              <a:t>Start with the pain you already have</a:t>
            </a:r>
          </a:p>
          <a:p>
            <a:pPr algn="l">
              <a:spcBef>
                <a:spcPts val="0"/>
              </a:spcBef>
              <a:spcAft>
                <a:spcPts val="0"/>
              </a:spcAft>
            </a:pPr>
            <a:r>
              <a:rPr sz="1250" b="0">
                <a:solidFill>
                  <a:srgbClr val="1E7A22"/>
                </a:solidFill>
                <a:latin typeface="Segoe UI"/>
              </a:rPr>
              <a:t>WHY THIS EXISTS</a:t>
            </a:r>
          </a:p>
        </p:txBody>
      </p:sp>
      <p:sp>
        <p:nvSpPr>
          <p:cNvPr id="3" name="Rounded Rectangle 2"/>
          <p:cNvSpPr/>
          <p:nvPr/>
        </p:nvSpPr>
        <p:spPr>
          <a:xfrm>
            <a:off x="566928" y="1060704"/>
            <a:ext cx="1051560" cy="50292"/>
          </a:xfrm>
          <a:prstGeom prst="roundRect">
            <a:avLst>
              <a:gd name="adj" fmla="val 50000"/>
            </a:avLst>
          </a:prstGeom>
          <a:solidFill>
            <a:srgbClr val="2EAD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783080"/>
            <a:ext cx="11057839" cy="2926080"/>
          </a:xfrm>
          <a:prstGeom prst="rect">
            <a:avLst/>
          </a:prstGeom>
          <a:noFill/>
        </p:spPr>
        <p:txBody>
          <a:bodyPr wrap="square" anchor="t" lIns="0" rIns="0" tIns="0" bIns="0">
            <a:spAutoFit/>
          </a:bodyPr>
          <a:lstStyle/>
          <a:p>
            <a:pPr marL="274320" indent="-274320">
              <a:spcBef>
                <a:spcPts val="0"/>
              </a:spcBef>
              <a:spcAft>
                <a:spcPts val="800"/>
              </a:spcAft>
              <a:buNone/>
            </a:pPr>
            <a:r>
              <a:rPr sz="1600" b="1">
                <a:solidFill>
                  <a:srgbClr val="2EAD33"/>
                </a:solidFill>
                <a:latin typeface="Segoe UI"/>
              </a:rPr>
              <a:t>▪   </a:t>
            </a:r>
            <a:r>
              <a:rPr sz="1600" b="1">
                <a:solidFill>
                  <a:srgbClr val="212630"/>
                </a:solidFill>
                <a:latin typeface="Segoe UI"/>
              </a:rPr>
              <a:t>Tests drift. </a:t>
            </a:r>
            <a:r>
              <a:rPr sz="1600">
                <a:solidFill>
                  <a:srgbClr val="212630"/>
                </a:solidFill>
                <a:latin typeface="Segoe UI"/>
              </a:rPr>
              <a:t>The app moves, the locator does not. Maintenance eats the sprint, and it is the least interesting work on the board.</a:t>
            </a:r>
          </a:p>
          <a:p>
            <a:pPr marL="274320" indent="-274320">
              <a:spcBef>
                <a:spcPts val="0"/>
              </a:spcBef>
              <a:spcAft>
                <a:spcPts val="800"/>
              </a:spcAft>
              <a:buNone/>
            </a:pPr>
            <a:r>
              <a:rPr sz="1600" b="1">
                <a:solidFill>
                  <a:srgbClr val="2EAD33"/>
                </a:solidFill>
                <a:latin typeface="Segoe UI"/>
              </a:rPr>
              <a:t>▪   </a:t>
            </a:r>
            <a:r>
              <a:rPr sz="1600" b="1">
                <a:solidFill>
                  <a:srgbClr val="212630"/>
                </a:solidFill>
                <a:latin typeface="Segoe UI"/>
              </a:rPr>
              <a:t>Coverage is invisible. </a:t>
            </a:r>
            <a:r>
              <a:rPr sz="1600">
                <a:solidFill>
                  <a:srgbClr val="212630"/>
                </a:solidFill>
                <a:latin typeface="Segoe UI"/>
              </a:rPr>
              <a:t>Which of these 40 tests still tests something? Which one has quietly stopped asserting anything at all?</a:t>
            </a:r>
          </a:p>
          <a:p>
            <a:pPr marL="274320" indent="-274320">
              <a:spcBef>
                <a:spcPts val="0"/>
              </a:spcBef>
              <a:spcAft>
                <a:spcPts val="800"/>
              </a:spcAft>
              <a:buNone/>
            </a:pPr>
            <a:r>
              <a:rPr sz="1600" b="1">
                <a:solidFill>
                  <a:srgbClr val="2EAD33"/>
                </a:solidFill>
                <a:latin typeface="Segoe UI"/>
              </a:rPr>
              <a:t>▪   </a:t>
            </a:r>
            <a:r>
              <a:rPr sz="1600" b="1">
                <a:solidFill>
                  <a:srgbClr val="212630"/>
                </a:solidFill>
                <a:latin typeface="Segoe UI"/>
              </a:rPr>
              <a:t>Writing a test is slow; writing a good one is slower. </a:t>
            </a:r>
            <a:r>
              <a:rPr sz="1600">
                <a:solidFill>
                  <a:srgbClr val="212630"/>
                </a:solidFill>
                <a:latin typeface="Segoe UI"/>
              </a:rPr>
              <a:t>The judgement that makes a test worth having does not scale with headcount.</a:t>
            </a:r>
          </a:p>
          <a:p>
            <a:pPr marL="274320" indent="-274320">
              <a:spcBef>
                <a:spcPts val="0"/>
              </a:spcBef>
              <a:spcAft>
                <a:spcPts val="800"/>
              </a:spcAft>
              <a:buNone/>
            </a:pPr>
            <a:r>
              <a:rPr sz="1600" b="1">
                <a:solidFill>
                  <a:srgbClr val="2EAD33"/>
                </a:solidFill>
                <a:latin typeface="Segoe UI"/>
              </a:rPr>
              <a:t>▪   </a:t>
            </a:r>
            <a:r>
              <a:rPr sz="1600" b="1">
                <a:solidFill>
                  <a:srgbClr val="212630"/>
                </a:solidFill>
                <a:latin typeface="Segoe UI"/>
              </a:rPr>
              <a:t>AI can write tests today. </a:t>
            </a:r>
            <a:r>
              <a:rPr sz="1600">
                <a:solidFill>
                  <a:srgbClr val="212630"/>
                </a:solidFill>
                <a:latin typeface="Segoe UI"/>
              </a:rPr>
              <a:t>That was never the hard part — trusting the result is.</a:t>
            </a:r>
          </a:p>
        </p:txBody>
      </p:sp>
      <p:sp>
        <p:nvSpPr>
          <p:cNvPr id="5" name="Rounded Rectangle 4"/>
          <p:cNvSpPr/>
          <p:nvPr/>
        </p:nvSpPr>
        <p:spPr>
          <a:xfrm>
            <a:off x="566928" y="4983480"/>
            <a:ext cx="11057839" cy="566928"/>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566928" y="4983480"/>
            <a:ext cx="68580" cy="566928"/>
          </a:xfrm>
          <a:prstGeom prst="rect">
            <a:avLst/>
          </a:prstGeom>
          <a:solidFill>
            <a:srgbClr val="2EAD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822960" y="5033772"/>
            <a:ext cx="10600639" cy="466344"/>
          </a:xfrm>
          <a:prstGeom prst="rect">
            <a:avLst/>
          </a:prstGeom>
          <a:noFill/>
        </p:spPr>
        <p:txBody>
          <a:bodyPr wrap="square" anchor="ctr" lIns="0" rIns="0" tIns="0" bIns="0">
            <a:spAutoFit/>
          </a:bodyPr>
          <a:lstStyle/>
          <a:p>
            <a:pPr algn="l">
              <a:lnSpc>
                <a:spcPct val="115000"/>
              </a:lnSpc>
              <a:spcBef>
                <a:spcPts val="0"/>
              </a:spcBef>
              <a:spcAft>
                <a:spcPts val="0"/>
              </a:spcAft>
            </a:pPr>
            <a:r>
              <a:rPr sz="1350" b="1">
                <a:solidFill>
                  <a:srgbClr val="1E7A22"/>
                </a:solidFill>
                <a:latin typeface="Segoe UI"/>
              </a:rPr>
              <a:t>AI proposes. </a:t>
            </a:r>
            <a:r>
              <a:rPr sz="1350" b="1">
                <a:solidFill>
                  <a:srgbClr val="212630"/>
                </a:solidFill>
                <a:latin typeface="Segoe UI"/>
              </a:rPr>
              <a:t>Code enforces. </a:t>
            </a:r>
            <a:r>
              <a:rPr sz="1350" b="0">
                <a:solidFill>
                  <a:srgbClr val="626B7A"/>
                </a:solidFill>
                <a:latin typeface="Segoe UI"/>
              </a:rPr>
              <a:t>That single sentence is the design of everything that follows.</a:t>
            </a:r>
          </a:p>
        </p:txBody>
      </p:sp>
      <p:sp>
        <p:nvSpPr>
          <p:cNvPr id="8" name="TextBox 7"/>
          <p:cNvSpPr txBox="1"/>
          <p:nvPr/>
        </p:nvSpPr>
        <p:spPr>
          <a:xfrm>
            <a:off x="566928" y="6382512"/>
            <a:ext cx="11057839" cy="274320"/>
          </a:xfrm>
          <a:prstGeom prst="rect">
            <a:avLst/>
          </a:prstGeom>
          <a:noFill/>
        </p:spPr>
        <p:txBody>
          <a:bodyPr wrap="square" anchor="t" lIns="0" rIns="0" tIns="0" bIns="0">
            <a:spAutoFit/>
          </a:bodyPr>
          <a:lstStyle/>
          <a:p>
            <a:pPr algn="l">
              <a:spcBef>
                <a:spcPts val="0"/>
              </a:spcBef>
              <a:spcAft>
                <a:spcPts val="0"/>
              </a:spcAft>
            </a:pPr>
            <a:r>
              <a:rPr sz="1050" b="0">
                <a:solidFill>
                  <a:srgbClr val="9AA2AE"/>
                </a:solidFill>
                <a:latin typeface="Segoe UI"/>
              </a:rPr>
              <a:t>Playwright × AI  ·  QA workshop</a:t>
            </a:r>
            <a:r>
              <a:rPr sz="1050" b="0">
                <a:solidFill>
                  <a:srgbClr val="9AA2AE"/>
                </a:solidFill>
                <a:latin typeface="Segoe UI"/>
              </a:rPr>
              <a:t>        2/10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58368"/>
          </a:xfrm>
          <a:prstGeom prst="rect">
            <a:avLst/>
          </a:prstGeom>
          <a:noFill/>
        </p:spPr>
        <p:txBody>
          <a:bodyPr wrap="square" anchor="t" lIns="0" rIns="0" tIns="0" bIns="0">
            <a:spAutoFit/>
          </a:bodyPr>
          <a:lstStyle/>
          <a:p>
            <a:pPr algn="l">
              <a:spcBef>
                <a:spcPts val="0"/>
              </a:spcBef>
              <a:spcAft>
                <a:spcPts val="0"/>
              </a:spcAft>
            </a:pPr>
            <a:r>
              <a:rPr sz="2900" b="0">
                <a:solidFill>
                  <a:srgbClr val="171B23"/>
                </a:solidFill>
                <a:latin typeface="Segoe UI"/>
              </a:rPr>
              <a:t>Eight stages: an issue in, a reviewed PR out</a:t>
            </a:r>
          </a:p>
          <a:p>
            <a:pPr algn="l">
              <a:spcBef>
                <a:spcPts val="0"/>
              </a:spcBef>
              <a:spcAft>
                <a:spcPts val="0"/>
              </a:spcAft>
            </a:pPr>
            <a:r>
              <a:rPr sz="1250" b="0">
                <a:solidFill>
                  <a:srgbClr val="1E7A22"/>
                </a:solidFill>
                <a:latin typeface="Segoe UI"/>
              </a:rPr>
              <a:t>THE MECHANISM</a:t>
            </a:r>
          </a:p>
        </p:txBody>
      </p:sp>
      <p:sp>
        <p:nvSpPr>
          <p:cNvPr id="3" name="Rounded Rectangle 2"/>
          <p:cNvSpPr/>
          <p:nvPr/>
        </p:nvSpPr>
        <p:spPr>
          <a:xfrm>
            <a:off x="566928" y="1060704"/>
            <a:ext cx="1051560" cy="50292"/>
          </a:xfrm>
          <a:prstGeom prst="roundRect">
            <a:avLst>
              <a:gd name="adj" fmla="val 50000"/>
            </a:avLst>
          </a:prstGeom>
          <a:solidFill>
            <a:srgbClr val="2EAD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417320"/>
            <a:ext cx="11057839" cy="274320"/>
          </a:xfrm>
          <a:prstGeom prst="rect">
            <a:avLst/>
          </a:prstGeom>
          <a:noFill/>
        </p:spPr>
        <p:txBody>
          <a:bodyPr wrap="square" anchor="t" lIns="0" rIns="0" tIns="0" bIns="0">
            <a:spAutoFit/>
          </a:bodyPr>
          <a:lstStyle/>
          <a:p>
            <a:pPr algn="l">
              <a:spcBef>
                <a:spcPts val="0"/>
              </a:spcBef>
              <a:spcAft>
                <a:spcPts val="0"/>
              </a:spcAft>
            </a:pPr>
            <a:r>
              <a:rPr sz="1350" b="1">
                <a:solidFill>
                  <a:srgbClr val="626B7A"/>
                </a:solidFill>
                <a:latin typeface="Segoe UI"/>
              </a:rPr>
              <a:t>Input: </a:t>
            </a:r>
            <a:r>
              <a:rPr sz="1350" b="0">
                <a:solidFill>
                  <a:srgbClr val="212630"/>
                </a:solidFill>
                <a:latin typeface="Segoe UI"/>
              </a:rPr>
              <a:t>a GitHub issue + PR diff</a:t>
            </a:r>
            <a:r>
              <a:rPr sz="1350" b="0">
                <a:solidFill>
                  <a:srgbClr val="9AA2AE"/>
                </a:solidFill>
                <a:latin typeface="Segoe UI"/>
              </a:rPr>
              <a:t>        →        </a:t>
            </a:r>
            <a:r>
              <a:rPr sz="1350" b="1">
                <a:solidFill>
                  <a:srgbClr val="626B7A"/>
                </a:solidFill>
                <a:latin typeface="Segoe UI"/>
              </a:rPr>
              <a:t>Output: </a:t>
            </a:r>
            <a:r>
              <a:rPr sz="1350" b="0">
                <a:solidFill>
                  <a:srgbClr val="212630"/>
                </a:solidFill>
                <a:latin typeface="Segoe UI"/>
              </a:rPr>
              <a:t>tests, healed locators, a PR</a:t>
            </a:r>
            <a:r>
              <a:rPr sz="1350" b="0">
                <a:solidFill>
                  <a:srgbClr val="626B7A"/>
                </a:solidFill>
                <a:latin typeface="Segoe UI"/>
              </a:rPr>
              <a:t>   — a human reviews it</a:t>
            </a:r>
          </a:p>
        </p:txBody>
      </p:sp>
      <p:sp>
        <p:nvSpPr>
          <p:cNvPr id="5" name="Rounded Rectangle 4"/>
          <p:cNvSpPr/>
          <p:nvPr/>
        </p:nvSpPr>
        <p:spPr>
          <a:xfrm>
            <a:off x="566928" y="1920240"/>
            <a:ext cx="2487168" cy="2148840"/>
          </a:xfrm>
          <a:prstGeom prst="roundRect">
            <a:avLst>
              <a:gd name="adj" fmla="val 7000"/>
            </a:avLst>
          </a:prstGeom>
          <a:solidFill>
            <a:srgbClr val="FFFFFF"/>
          </a:solidFill>
          <a:ln w="12700">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566928" y="1920240"/>
            <a:ext cx="2487168" cy="68580"/>
          </a:xfrm>
          <a:prstGeom prst="rect">
            <a:avLst/>
          </a:prstGeom>
          <a:solidFill>
            <a:srgbClr val="2EAD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86384" y="2194560"/>
            <a:ext cx="2048256" cy="1691640"/>
          </a:xfrm>
          <a:prstGeom prst="rect">
            <a:avLst/>
          </a:prstGeom>
          <a:noFill/>
        </p:spPr>
        <p:txBody>
          <a:bodyPr wrap="square" anchor="t" lIns="0" rIns="0" tIns="0" bIns="0">
            <a:spAutoFit/>
          </a:bodyPr>
          <a:lstStyle/>
          <a:p>
            <a:pPr algn="l">
              <a:spcBef>
                <a:spcPts val="0"/>
              </a:spcBef>
              <a:spcAft>
                <a:spcPts val="300"/>
              </a:spcAft>
            </a:pPr>
            <a:r>
              <a:rPr sz="1000" b="0">
                <a:solidFill>
                  <a:srgbClr val="2EAD33"/>
                </a:solidFill>
                <a:latin typeface="Segoe UI"/>
              </a:rPr>
              <a:t>PHASE 1</a:t>
            </a:r>
          </a:p>
          <a:p>
            <a:pPr algn="l">
              <a:spcBef>
                <a:spcPts val="0"/>
              </a:spcBef>
              <a:spcAft>
                <a:spcPts val="900"/>
              </a:spcAft>
            </a:pPr>
            <a:r>
              <a:rPr sz="1550" b="0">
                <a:solidFill>
                  <a:srgbClr val="171B23"/>
                </a:solidFill>
                <a:latin typeface="Segoe UI"/>
              </a:rPr>
              <a:t>Decide what to cover</a:t>
            </a:r>
          </a:p>
          <a:p>
            <a:pPr algn="l">
              <a:spcBef>
                <a:spcPts val="0"/>
              </a:spcBef>
              <a:spcAft>
                <a:spcPts val="250"/>
              </a:spcAft>
            </a:pPr>
            <a:r>
              <a:rPr sz="1150" b="0">
                <a:solidFill>
                  <a:srgbClr val="212630"/>
                </a:solidFill>
                <a:latin typeface="Segoe UI"/>
              </a:rPr>
              <a:t>1  gap-analysis</a:t>
            </a:r>
          </a:p>
          <a:p>
            <a:pPr algn="l">
              <a:spcBef>
                <a:spcPts val="0"/>
              </a:spcBef>
              <a:spcAft>
                <a:spcPts val="250"/>
              </a:spcAft>
            </a:pPr>
            <a:r>
              <a:rPr sz="1150" b="0">
                <a:solidFill>
                  <a:srgbClr val="212630"/>
                </a:solidFill>
                <a:latin typeface="Segoe UI"/>
              </a:rPr>
              <a:t>2  testcase-digest</a:t>
            </a:r>
          </a:p>
          <a:p>
            <a:pPr algn="l">
              <a:lnSpc>
                <a:spcPct val="110000"/>
              </a:lnSpc>
              <a:spcBef>
                <a:spcPts val="700"/>
              </a:spcBef>
              <a:spcAft>
                <a:spcPts val="0"/>
              </a:spcAft>
            </a:pPr>
            <a:r>
              <a:rPr sz="1050" b="0">
                <a:solidFill>
                  <a:srgbClr val="626B7A"/>
                </a:solidFill>
                <a:latin typeface="Segoe UI"/>
              </a:rPr>
              <a:t>read the diff → risk areas → scenarios</a:t>
            </a:r>
          </a:p>
        </p:txBody>
      </p:sp>
      <p:sp>
        <p:nvSpPr>
          <p:cNvPr id="8" name="Right Arrow 7"/>
          <p:cNvSpPr/>
          <p:nvPr/>
        </p:nvSpPr>
        <p:spPr>
          <a:xfrm>
            <a:off x="3095244" y="2875788"/>
            <a:ext cx="237744" cy="237744"/>
          </a:xfrm>
          <a:prstGeom prst="rightArrow">
            <a:avLst/>
          </a:prstGeom>
          <a:solidFill>
            <a:srgbClr val="2EAD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ounded Rectangle 8"/>
          <p:cNvSpPr/>
          <p:nvPr/>
        </p:nvSpPr>
        <p:spPr>
          <a:xfrm>
            <a:off x="3374136" y="1920240"/>
            <a:ext cx="2487168" cy="2148840"/>
          </a:xfrm>
          <a:prstGeom prst="roundRect">
            <a:avLst>
              <a:gd name="adj" fmla="val 7000"/>
            </a:avLst>
          </a:prstGeom>
          <a:solidFill>
            <a:srgbClr val="FFFFFF"/>
          </a:solidFill>
          <a:ln w="12700">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3374136" y="1920240"/>
            <a:ext cx="2487168" cy="68580"/>
          </a:xfrm>
          <a:prstGeom prst="rect">
            <a:avLst/>
          </a:prstGeom>
          <a:solidFill>
            <a:srgbClr val="2C7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3593592" y="2194560"/>
            <a:ext cx="2048256" cy="1691640"/>
          </a:xfrm>
          <a:prstGeom prst="rect">
            <a:avLst/>
          </a:prstGeom>
          <a:noFill/>
        </p:spPr>
        <p:txBody>
          <a:bodyPr wrap="square" anchor="t" lIns="0" rIns="0" tIns="0" bIns="0">
            <a:spAutoFit/>
          </a:bodyPr>
          <a:lstStyle/>
          <a:p>
            <a:pPr algn="l">
              <a:spcBef>
                <a:spcPts val="0"/>
              </a:spcBef>
              <a:spcAft>
                <a:spcPts val="300"/>
              </a:spcAft>
            </a:pPr>
            <a:r>
              <a:rPr sz="1000" b="0">
                <a:solidFill>
                  <a:srgbClr val="2C7FB8"/>
                </a:solidFill>
                <a:latin typeface="Segoe UI"/>
              </a:rPr>
              <a:t>PHASE 2</a:t>
            </a:r>
          </a:p>
          <a:p>
            <a:pPr algn="l">
              <a:spcBef>
                <a:spcPts val="0"/>
              </a:spcBef>
              <a:spcAft>
                <a:spcPts val="900"/>
              </a:spcAft>
            </a:pPr>
            <a:r>
              <a:rPr sz="1550" b="0">
                <a:solidFill>
                  <a:srgbClr val="171B23"/>
                </a:solidFill>
                <a:latin typeface="Segoe UI"/>
              </a:rPr>
              <a:t>Build the vocabulary</a:t>
            </a:r>
          </a:p>
          <a:p>
            <a:pPr algn="l">
              <a:spcBef>
                <a:spcPts val="0"/>
              </a:spcBef>
              <a:spcAft>
                <a:spcPts val="250"/>
              </a:spcAft>
            </a:pPr>
            <a:r>
              <a:rPr sz="1150" b="0">
                <a:solidFill>
                  <a:srgbClr val="212630"/>
                </a:solidFill>
                <a:latin typeface="Segoe UI"/>
              </a:rPr>
              <a:t>3  pom-builder</a:t>
            </a:r>
          </a:p>
          <a:p>
            <a:pPr algn="l">
              <a:spcBef>
                <a:spcPts val="0"/>
              </a:spcBef>
              <a:spcAft>
                <a:spcPts val="250"/>
              </a:spcAft>
            </a:pPr>
            <a:r>
              <a:rPr sz="1150" b="0">
                <a:solidFill>
                  <a:srgbClr val="212630"/>
                </a:solidFill>
                <a:latin typeface="Segoe UI"/>
              </a:rPr>
              <a:t>4  digest-retry</a:t>
            </a:r>
          </a:p>
          <a:p>
            <a:pPr algn="l">
              <a:lnSpc>
                <a:spcPct val="110000"/>
              </a:lnSpc>
              <a:spcBef>
                <a:spcPts val="700"/>
              </a:spcBef>
              <a:spcAft>
                <a:spcPts val="0"/>
              </a:spcAft>
            </a:pPr>
            <a:r>
              <a:rPr sz="1050" b="0">
                <a:solidFill>
                  <a:srgbClr val="626B7A"/>
                </a:solidFill>
                <a:latin typeface="Segoe UI"/>
              </a:rPr>
              <a:t>drive the live app, write page objects</a:t>
            </a:r>
          </a:p>
        </p:txBody>
      </p:sp>
      <p:sp>
        <p:nvSpPr>
          <p:cNvPr id="12" name="Right Arrow 11"/>
          <p:cNvSpPr/>
          <p:nvPr/>
        </p:nvSpPr>
        <p:spPr>
          <a:xfrm>
            <a:off x="5902452" y="2875788"/>
            <a:ext cx="237744" cy="237744"/>
          </a:xfrm>
          <a:prstGeom prst="rightArrow">
            <a:avLst/>
          </a:prstGeom>
          <a:solidFill>
            <a:srgbClr val="2EAD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181344" y="1920240"/>
            <a:ext cx="2487168" cy="2148840"/>
          </a:xfrm>
          <a:prstGeom prst="roundRect">
            <a:avLst>
              <a:gd name="adj" fmla="val 7000"/>
            </a:avLst>
          </a:prstGeom>
          <a:solidFill>
            <a:srgbClr val="FFFFFF"/>
          </a:solidFill>
          <a:ln w="12700">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181344" y="1920240"/>
            <a:ext cx="2487168" cy="68580"/>
          </a:xfrm>
          <a:prstGeom prst="rect">
            <a:avLst/>
          </a:prstGeom>
          <a:solidFill>
            <a:srgbClr val="7A54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0" y="2194560"/>
            <a:ext cx="2048256" cy="1691640"/>
          </a:xfrm>
          <a:prstGeom prst="rect">
            <a:avLst/>
          </a:prstGeom>
          <a:noFill/>
        </p:spPr>
        <p:txBody>
          <a:bodyPr wrap="square" anchor="t" lIns="0" rIns="0" tIns="0" bIns="0">
            <a:spAutoFit/>
          </a:bodyPr>
          <a:lstStyle/>
          <a:p>
            <a:pPr algn="l">
              <a:spcBef>
                <a:spcPts val="0"/>
              </a:spcBef>
              <a:spcAft>
                <a:spcPts val="300"/>
              </a:spcAft>
            </a:pPr>
            <a:r>
              <a:rPr sz="1000" b="0">
                <a:solidFill>
                  <a:srgbClr val="7A54B8"/>
                </a:solidFill>
                <a:latin typeface="Segoe UI"/>
              </a:rPr>
              <a:t>PHASE 3</a:t>
            </a:r>
          </a:p>
          <a:p>
            <a:pPr algn="l">
              <a:spcBef>
                <a:spcPts val="0"/>
              </a:spcBef>
              <a:spcAft>
                <a:spcPts val="900"/>
              </a:spcAft>
            </a:pPr>
            <a:r>
              <a:rPr sz="1550" b="0">
                <a:solidFill>
                  <a:srgbClr val="171B23"/>
                </a:solidFill>
                <a:latin typeface="Segoe UI"/>
              </a:rPr>
              <a:t>Run it</a:t>
            </a:r>
          </a:p>
          <a:p>
            <a:pPr algn="l">
              <a:spcBef>
                <a:spcPts val="0"/>
              </a:spcBef>
              <a:spcAft>
                <a:spcPts val="250"/>
              </a:spcAft>
            </a:pPr>
            <a:r>
              <a:rPr sz="1150" b="0">
                <a:solidFill>
                  <a:srgbClr val="212630"/>
                </a:solidFill>
                <a:latin typeface="Segoe UI"/>
              </a:rPr>
              <a:t>5  test-plan</a:t>
            </a:r>
          </a:p>
          <a:p>
            <a:pPr algn="l">
              <a:spcBef>
                <a:spcPts val="0"/>
              </a:spcBef>
              <a:spcAft>
                <a:spcPts val="250"/>
              </a:spcAft>
            </a:pPr>
            <a:r>
              <a:rPr sz="1150" b="0">
                <a:solidFill>
                  <a:srgbClr val="212630"/>
                </a:solidFill>
                <a:latin typeface="Segoe UI"/>
              </a:rPr>
              <a:t>6  playwright-test</a:t>
            </a:r>
          </a:p>
          <a:p>
            <a:pPr algn="l">
              <a:lnSpc>
                <a:spcPct val="110000"/>
              </a:lnSpc>
              <a:spcBef>
                <a:spcPts val="700"/>
              </a:spcBef>
              <a:spcAft>
                <a:spcPts val="0"/>
              </a:spcAft>
            </a:pPr>
            <a:r>
              <a:rPr sz="1050" b="0">
                <a:solidFill>
                  <a:srgbClr val="626B7A"/>
                </a:solidFill>
                <a:latin typeface="Segoe UI"/>
              </a:rPr>
              <a:t>pick a tier by tag, then execute</a:t>
            </a:r>
          </a:p>
        </p:txBody>
      </p:sp>
      <p:sp>
        <p:nvSpPr>
          <p:cNvPr id="16" name="Right Arrow 15"/>
          <p:cNvSpPr/>
          <p:nvPr/>
        </p:nvSpPr>
        <p:spPr>
          <a:xfrm>
            <a:off x="8709660" y="2875788"/>
            <a:ext cx="237744" cy="237744"/>
          </a:xfrm>
          <a:prstGeom prst="rightArrow">
            <a:avLst/>
          </a:prstGeom>
          <a:solidFill>
            <a:srgbClr val="2EAD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8988552" y="1920240"/>
            <a:ext cx="2487168" cy="2148840"/>
          </a:xfrm>
          <a:prstGeom prst="roundRect">
            <a:avLst>
              <a:gd name="adj" fmla="val 7000"/>
            </a:avLst>
          </a:prstGeom>
          <a:solidFill>
            <a:srgbClr val="FFFFFF"/>
          </a:solidFill>
          <a:ln w="12700">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8988552" y="1920240"/>
            <a:ext cx="2487168" cy="68580"/>
          </a:xfrm>
          <a:prstGeom prst="rect">
            <a:avLst/>
          </a:prstGeom>
          <a:solidFill>
            <a:srgbClr val="C069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9208008" y="2194560"/>
            <a:ext cx="2048256" cy="1691640"/>
          </a:xfrm>
          <a:prstGeom prst="rect">
            <a:avLst/>
          </a:prstGeom>
          <a:noFill/>
        </p:spPr>
        <p:txBody>
          <a:bodyPr wrap="square" anchor="t" lIns="0" rIns="0" tIns="0" bIns="0">
            <a:spAutoFit/>
          </a:bodyPr>
          <a:lstStyle/>
          <a:p>
            <a:pPr algn="l">
              <a:spcBef>
                <a:spcPts val="0"/>
              </a:spcBef>
              <a:spcAft>
                <a:spcPts val="300"/>
              </a:spcAft>
            </a:pPr>
            <a:r>
              <a:rPr sz="1000" b="0">
                <a:solidFill>
                  <a:srgbClr val="C0691E"/>
                </a:solidFill>
                <a:latin typeface="Segoe UI"/>
              </a:rPr>
              <a:t>PHASE 4</a:t>
            </a:r>
          </a:p>
          <a:p>
            <a:pPr algn="l">
              <a:spcBef>
                <a:spcPts val="0"/>
              </a:spcBef>
              <a:spcAft>
                <a:spcPts val="900"/>
              </a:spcAft>
            </a:pPr>
            <a:r>
              <a:rPr sz="1550" b="0">
                <a:solidFill>
                  <a:srgbClr val="171B23"/>
                </a:solidFill>
                <a:latin typeface="Segoe UI"/>
              </a:rPr>
              <a:t>Repair &amp; ship</a:t>
            </a:r>
          </a:p>
          <a:p>
            <a:pPr algn="l">
              <a:spcBef>
                <a:spcPts val="0"/>
              </a:spcBef>
              <a:spcAft>
                <a:spcPts val="250"/>
              </a:spcAft>
            </a:pPr>
            <a:r>
              <a:rPr sz="1150" b="0">
                <a:solidFill>
                  <a:srgbClr val="212630"/>
                </a:solidFill>
                <a:latin typeface="Segoe UI"/>
              </a:rPr>
              <a:t>7  heal-apply</a:t>
            </a:r>
          </a:p>
          <a:p>
            <a:pPr algn="l">
              <a:spcBef>
                <a:spcPts val="0"/>
              </a:spcBef>
              <a:spcAft>
                <a:spcPts val="250"/>
              </a:spcAft>
            </a:pPr>
            <a:r>
              <a:rPr sz="1150" b="0">
                <a:solidFill>
                  <a:srgbClr val="212630"/>
                </a:solidFill>
                <a:latin typeface="Segoe UI"/>
              </a:rPr>
              <a:t>8  git</a:t>
            </a:r>
          </a:p>
          <a:p>
            <a:pPr algn="l">
              <a:lnSpc>
                <a:spcPct val="110000"/>
              </a:lnSpc>
              <a:spcBef>
                <a:spcPts val="700"/>
              </a:spcBef>
              <a:spcAft>
                <a:spcPts val="0"/>
              </a:spcAft>
            </a:pPr>
            <a:r>
              <a:rPr sz="1050" b="0">
                <a:solidFill>
                  <a:srgbClr val="626B7A"/>
                </a:solidFill>
                <a:latin typeface="Segoe UI"/>
              </a:rPr>
              <a:t>fold in verified locator repairs, open a PR</a:t>
            </a:r>
          </a:p>
        </p:txBody>
      </p:sp>
      <p:sp>
        <p:nvSpPr>
          <p:cNvPr id="20" name="Rounded Rectangle 19"/>
          <p:cNvSpPr/>
          <p:nvPr/>
        </p:nvSpPr>
        <p:spPr>
          <a:xfrm>
            <a:off x="566928" y="4343400"/>
            <a:ext cx="11057839" cy="658368"/>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566928" y="4343400"/>
            <a:ext cx="68580" cy="658368"/>
          </a:xfrm>
          <a:prstGeom prst="rect">
            <a:avLst/>
          </a:prstGeom>
          <a:solidFill>
            <a:srgbClr val="2EAD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2960" y="4393692"/>
            <a:ext cx="10600639" cy="557784"/>
          </a:xfrm>
          <a:prstGeom prst="rect">
            <a:avLst/>
          </a:prstGeom>
          <a:noFill/>
        </p:spPr>
        <p:txBody>
          <a:bodyPr wrap="square" anchor="ctr" lIns="0" rIns="0" tIns="0" bIns="0">
            <a:spAutoFit/>
          </a:bodyPr>
          <a:lstStyle/>
          <a:p>
            <a:pPr algn="l">
              <a:lnSpc>
                <a:spcPct val="115000"/>
              </a:lnSpc>
              <a:spcBef>
                <a:spcPts val="0"/>
              </a:spcBef>
              <a:spcAft>
                <a:spcPts val="0"/>
              </a:spcAft>
            </a:pPr>
            <a:r>
              <a:rPr sz="1350" b="1">
                <a:solidFill>
                  <a:srgbClr val="212630"/>
                </a:solidFill>
                <a:latin typeface="Segoe UI"/>
              </a:rPr>
              <a:t>Re-runnable one at a time. </a:t>
            </a:r>
            <a:r>
              <a:rPr sz="1350" b="0">
                <a:solidFill>
                  <a:srgbClr val="1E7A22"/>
                </a:solidFill>
                <a:latin typeface="Segoe UI"/>
              </a:rPr>
              <a:t>npm run stage:2</a:t>
            </a:r>
            <a:r>
              <a:rPr sz="1350" b="0">
                <a:solidFill>
                  <a:srgbClr val="626B7A"/>
                </a:solidFill>
                <a:latin typeface="Segoe UI"/>
              </a:rPr>
              <a:t> re-runs a single stage against the manifest the last run left on disk — that is the debug handle, and how you learn the system.</a:t>
            </a:r>
          </a:p>
        </p:txBody>
      </p:sp>
      <p:sp>
        <p:nvSpPr>
          <p:cNvPr id="23" name="Rounded Rectangle 22"/>
          <p:cNvSpPr/>
          <p:nvPr/>
        </p:nvSpPr>
        <p:spPr>
          <a:xfrm>
            <a:off x="566928" y="5138928"/>
            <a:ext cx="11057839" cy="65836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566928" y="5138928"/>
            <a:ext cx="68580" cy="658368"/>
          </a:xfrm>
          <a:prstGeom prst="rect">
            <a:avLst/>
          </a:prstGeom>
          <a:solidFill>
            <a:srgbClr val="9AA2A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22960" y="5189220"/>
            <a:ext cx="10600639" cy="557784"/>
          </a:xfrm>
          <a:prstGeom prst="rect">
            <a:avLst/>
          </a:prstGeom>
          <a:noFill/>
        </p:spPr>
        <p:txBody>
          <a:bodyPr wrap="square" anchor="ctr" lIns="0" rIns="0" tIns="0" bIns="0">
            <a:spAutoFit/>
          </a:bodyPr>
          <a:lstStyle/>
          <a:p>
            <a:pPr algn="l">
              <a:lnSpc>
                <a:spcPct val="115000"/>
              </a:lnSpc>
              <a:spcBef>
                <a:spcPts val="0"/>
              </a:spcBef>
              <a:spcAft>
                <a:spcPts val="0"/>
              </a:spcAft>
            </a:pPr>
            <a:r>
              <a:rPr sz="1350" b="1">
                <a:solidFill>
                  <a:srgbClr val="212630"/>
                </a:solidFill>
                <a:latin typeface="Segoe UI"/>
              </a:rPr>
              <a:t>Fatal vs recorded. </a:t>
            </a:r>
            <a:r>
              <a:rPr sz="1350" b="0">
                <a:solidFill>
                  <a:srgbClr val="626B7A"/>
                </a:solidFill>
                <a:latin typeface="Segoe UI"/>
              </a:rPr>
              <a:t>Stages 1–2 are fatal (they decide what to cover). 3–7 record their failure and the run continues, so you get the whole picture in one pass.</a:t>
            </a:r>
          </a:p>
        </p:txBody>
      </p:sp>
      <p:sp>
        <p:nvSpPr>
          <p:cNvPr id="26" name="TextBox 25"/>
          <p:cNvSpPr txBox="1"/>
          <p:nvPr/>
        </p:nvSpPr>
        <p:spPr>
          <a:xfrm>
            <a:off x="566928" y="6382512"/>
            <a:ext cx="11057839" cy="274320"/>
          </a:xfrm>
          <a:prstGeom prst="rect">
            <a:avLst/>
          </a:prstGeom>
          <a:noFill/>
        </p:spPr>
        <p:txBody>
          <a:bodyPr wrap="square" anchor="t" lIns="0" rIns="0" tIns="0" bIns="0">
            <a:spAutoFit/>
          </a:bodyPr>
          <a:lstStyle/>
          <a:p>
            <a:pPr algn="l">
              <a:spcBef>
                <a:spcPts val="0"/>
              </a:spcBef>
              <a:spcAft>
                <a:spcPts val="0"/>
              </a:spcAft>
            </a:pPr>
            <a:r>
              <a:rPr sz="1050" b="0">
                <a:solidFill>
                  <a:srgbClr val="9AA2AE"/>
                </a:solidFill>
                <a:latin typeface="Segoe UI"/>
              </a:rPr>
              <a:t>Playwright × AI  ·  QA workshop</a:t>
            </a:r>
            <a:r>
              <a:rPr sz="1050" b="0">
                <a:solidFill>
                  <a:srgbClr val="9AA2AE"/>
                </a:solidFill>
                <a:latin typeface="Segoe UI"/>
              </a:rPr>
              <a:t>        3/10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58368"/>
          </a:xfrm>
          <a:prstGeom prst="rect">
            <a:avLst/>
          </a:prstGeom>
          <a:noFill/>
        </p:spPr>
        <p:txBody>
          <a:bodyPr wrap="square" anchor="t" lIns="0" rIns="0" tIns="0" bIns="0">
            <a:spAutoFit/>
          </a:bodyPr>
          <a:lstStyle/>
          <a:p>
            <a:pPr algn="l">
              <a:spcBef>
                <a:spcPts val="0"/>
              </a:spcBef>
              <a:spcAft>
                <a:spcPts val="0"/>
              </a:spcAft>
            </a:pPr>
            <a:r>
              <a:rPr sz="2900" b="0">
                <a:solidFill>
                  <a:srgbClr val="171B23"/>
                </a:solidFill>
                <a:latin typeface="Segoe UI"/>
              </a:rPr>
              <a:t>Scenarios in plain English, tests out</a:t>
            </a:r>
          </a:p>
          <a:p>
            <a:pPr algn="l">
              <a:spcBef>
                <a:spcPts val="0"/>
              </a:spcBef>
              <a:spcAft>
                <a:spcPts val="0"/>
              </a:spcAft>
            </a:pPr>
            <a:r>
              <a:rPr sz="1250" b="0">
                <a:solidFill>
                  <a:srgbClr val="1E7A22"/>
                </a:solidFill>
                <a:latin typeface="Segoe UI"/>
              </a:rPr>
              <a:t>STAGE 1–2  ·  WHAT TO COVER</a:t>
            </a:r>
          </a:p>
        </p:txBody>
      </p:sp>
      <p:sp>
        <p:nvSpPr>
          <p:cNvPr id="3" name="Rounded Rectangle 2"/>
          <p:cNvSpPr/>
          <p:nvPr/>
        </p:nvSpPr>
        <p:spPr>
          <a:xfrm>
            <a:off x="566928" y="1060704"/>
            <a:ext cx="1051560" cy="50292"/>
          </a:xfrm>
          <a:prstGeom prst="roundRect">
            <a:avLst>
              <a:gd name="adj" fmla="val 50000"/>
            </a:avLst>
          </a:prstGeom>
          <a:solidFill>
            <a:srgbClr val="2EAD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ounded Rectangle 3"/>
          <p:cNvSpPr/>
          <p:nvPr/>
        </p:nvSpPr>
        <p:spPr>
          <a:xfrm>
            <a:off x="566928" y="1691640"/>
            <a:ext cx="5029200" cy="3246120"/>
          </a:xfrm>
          <a:prstGeom prst="roundRect">
            <a:avLst>
              <a:gd name="adj" fmla="val 5500"/>
            </a:avLst>
          </a:prstGeom>
          <a:solidFill>
            <a:srgbClr val="1E232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68096" y="1856232"/>
            <a:ext cx="4626864" cy="2916936"/>
          </a:xfrm>
          <a:prstGeom prst="rect">
            <a:avLst/>
          </a:prstGeom>
          <a:noFill/>
        </p:spPr>
        <p:txBody>
          <a:bodyPr wrap="square" anchor="ctr" lIns="0" rIns="0" tIns="0" bIns="0">
            <a:spAutoFit/>
          </a:bodyPr>
          <a:lstStyle/>
          <a:p>
            <a:pPr algn="l">
              <a:lnSpc>
                <a:spcPct val="100000"/>
              </a:lnSpc>
              <a:spcBef>
                <a:spcPts val="0"/>
              </a:spcBef>
              <a:spcAft>
                <a:spcPts val="350"/>
              </a:spcAft>
            </a:pPr>
            <a:r>
              <a:rPr sz="1150" b="0">
                <a:solidFill>
                  <a:srgbClr val="8C98A8"/>
                </a:solidFill>
                <a:latin typeface="Segoe UI"/>
              </a:rPr>
              <a:t># scenarios/landing-page.txt</a:t>
            </a:r>
          </a:p>
          <a:p>
            <a:pPr algn="l">
              <a:lnSpc>
                <a:spcPct val="100000"/>
              </a:lnSpc>
              <a:spcBef>
                <a:spcPts val="0"/>
              </a:spcBef>
              <a:spcAft>
                <a:spcPts val="350"/>
              </a:spcAft>
            </a:pPr>
            <a:r>
              <a:rPr sz="1150" b="0">
                <a:solidFill>
                  <a:srgbClr val="E7EAF0"/>
                </a:solidFill>
                <a:latin typeface="Segoe UI"/>
              </a:rPr>
              <a:t/>
            </a:r>
          </a:p>
          <a:p>
            <a:pPr algn="l">
              <a:lnSpc>
                <a:spcPct val="100000"/>
              </a:lnSpc>
              <a:spcBef>
                <a:spcPts val="0"/>
              </a:spcBef>
              <a:spcAft>
                <a:spcPts val="350"/>
              </a:spcAft>
            </a:pPr>
            <a:r>
              <a:rPr sz="1150" b="0">
                <a:solidFill>
                  <a:srgbClr val="E7EAF0"/>
                </a:solidFill>
                <a:latin typeface="Segoe UI"/>
              </a:rPr>
              <a:t>TEST: The pricing section lists all</a:t>
            </a:r>
          </a:p>
          <a:p>
            <a:pPr algn="l">
              <a:lnSpc>
                <a:spcPct val="100000"/>
              </a:lnSpc>
              <a:spcBef>
                <a:spcPts val="0"/>
              </a:spcBef>
              <a:spcAft>
                <a:spcPts val="350"/>
              </a:spcAft>
            </a:pPr>
            <a:r>
              <a:rPr sz="1150" b="0">
                <a:solidFill>
                  <a:srgbClr val="E7EAF0"/>
                </a:solidFill>
                <a:latin typeface="Segoe UI"/>
              </a:rPr>
              <a:t>      six packages</a:t>
            </a:r>
          </a:p>
          <a:p>
            <a:pPr algn="l">
              <a:lnSpc>
                <a:spcPct val="100000"/>
              </a:lnSpc>
              <a:spcBef>
                <a:spcPts val="0"/>
              </a:spcBef>
              <a:spcAft>
                <a:spcPts val="350"/>
              </a:spcAft>
            </a:pPr>
            <a:r>
              <a:rPr sz="1150" b="0">
                <a:solidFill>
                  <a:srgbClr val="E7EAF0"/>
                </a:solidFill>
                <a:latin typeface="Segoe UI"/>
              </a:rPr>
              <a:t>Tags: @core @smoke</a:t>
            </a:r>
          </a:p>
          <a:p>
            <a:pPr algn="l">
              <a:lnSpc>
                <a:spcPct val="100000"/>
              </a:lnSpc>
              <a:spcBef>
                <a:spcPts val="0"/>
              </a:spcBef>
              <a:spcAft>
                <a:spcPts val="350"/>
              </a:spcAft>
            </a:pPr>
            <a:r>
              <a:rPr sz="1150" b="0">
                <a:solidFill>
                  <a:srgbClr val="E7EAF0"/>
                </a:solidFill>
                <a:latin typeface="Segoe UI"/>
              </a:rPr>
              <a:t>Expected: Six package cards, each</a:t>
            </a:r>
          </a:p>
          <a:p>
            <a:pPr algn="l">
              <a:lnSpc>
                <a:spcPct val="100000"/>
              </a:lnSpc>
              <a:spcBef>
                <a:spcPts val="0"/>
              </a:spcBef>
              <a:spcAft>
                <a:spcPts val="350"/>
              </a:spcAft>
            </a:pPr>
            <a:r>
              <a:rPr sz="1150" b="0">
                <a:solidFill>
                  <a:srgbClr val="E7EAF0"/>
                </a:solidFill>
                <a:latin typeface="Segoe UI"/>
              </a:rPr>
              <a:t>          with a price.</a:t>
            </a:r>
          </a:p>
          <a:p>
            <a:pPr algn="l">
              <a:lnSpc>
                <a:spcPct val="100000"/>
              </a:lnSpc>
              <a:spcBef>
                <a:spcPts val="0"/>
              </a:spcBef>
              <a:spcAft>
                <a:spcPts val="350"/>
              </a:spcAft>
            </a:pPr>
            <a:r>
              <a:rPr sz="1150" b="0">
                <a:solidFill>
                  <a:srgbClr val="E7EAF0"/>
                </a:solidFill>
                <a:latin typeface="Segoe UI"/>
              </a:rPr>
              <a:t>Notes: Prices come from the CMS,</a:t>
            </a:r>
          </a:p>
          <a:p>
            <a:pPr algn="l">
              <a:lnSpc>
                <a:spcPct val="100000"/>
              </a:lnSpc>
              <a:spcBef>
                <a:spcPts val="0"/>
              </a:spcBef>
              <a:spcAft>
                <a:spcPts val="350"/>
              </a:spcAft>
            </a:pPr>
            <a:r>
              <a:rPr sz="1150" b="0">
                <a:solidFill>
                  <a:srgbClr val="E7EAF0"/>
                </a:solidFill>
                <a:latin typeface="Segoe UI"/>
              </a:rPr>
              <a:t>       not hardcoded.</a:t>
            </a:r>
          </a:p>
          <a:p>
            <a:pPr algn="l">
              <a:lnSpc>
                <a:spcPct val="100000"/>
              </a:lnSpc>
              <a:spcBef>
                <a:spcPts val="0"/>
              </a:spcBef>
              <a:spcAft>
                <a:spcPts val="350"/>
              </a:spcAft>
            </a:pPr>
            <a:r>
              <a:rPr sz="1150" b="0">
                <a:solidFill>
                  <a:srgbClr val="E7EAF0"/>
                </a:solidFill>
                <a:latin typeface="Segoe UI"/>
              </a:rPr>
              <a:t/>
            </a:r>
          </a:p>
          <a:p>
            <a:pPr algn="l">
              <a:lnSpc>
                <a:spcPct val="100000"/>
              </a:lnSpc>
              <a:spcBef>
                <a:spcPts val="0"/>
              </a:spcBef>
              <a:spcAft>
                <a:spcPts val="350"/>
              </a:spcAft>
            </a:pPr>
            <a:r>
              <a:rPr sz="1150" b="0">
                <a:solidFill>
                  <a:srgbClr val="8C98A8"/>
                </a:solidFill>
                <a:latin typeface="Segoe UI"/>
              </a:rPr>
              <a:t>---</a:t>
            </a:r>
          </a:p>
          <a:p>
            <a:pPr algn="l">
              <a:lnSpc>
                <a:spcPct val="100000"/>
              </a:lnSpc>
              <a:spcBef>
                <a:spcPts val="0"/>
              </a:spcBef>
              <a:spcAft>
                <a:spcPts val="350"/>
              </a:spcAft>
            </a:pPr>
            <a:r>
              <a:rPr sz="1150" b="0">
                <a:solidFill>
                  <a:srgbClr val="E7EAF0"/>
                </a:solidFill>
                <a:latin typeface="Segoe UI"/>
              </a:rPr>
              <a:t/>
            </a:r>
          </a:p>
          <a:p>
            <a:pPr algn="l">
              <a:lnSpc>
                <a:spcPct val="100000"/>
              </a:lnSpc>
              <a:spcBef>
                <a:spcPts val="0"/>
              </a:spcBef>
              <a:spcAft>
                <a:spcPts val="350"/>
              </a:spcAft>
            </a:pPr>
            <a:r>
              <a:rPr sz="1150" b="0">
                <a:solidFill>
                  <a:srgbClr val="8C98A8"/>
                </a:solidFill>
                <a:latin typeface="Segoe UI"/>
              </a:rPr>
              <a:t>TEST: &lt;next scenario&gt;…</a:t>
            </a:r>
          </a:p>
        </p:txBody>
      </p:sp>
      <p:sp>
        <p:nvSpPr>
          <p:cNvPr id="6" name="TextBox 5"/>
          <p:cNvSpPr txBox="1"/>
          <p:nvPr/>
        </p:nvSpPr>
        <p:spPr>
          <a:xfrm>
            <a:off x="5961888" y="1737360"/>
            <a:ext cx="5662879" cy="3200400"/>
          </a:xfrm>
          <a:prstGeom prst="rect">
            <a:avLst/>
          </a:prstGeom>
          <a:noFill/>
        </p:spPr>
        <p:txBody>
          <a:bodyPr wrap="square" anchor="t" lIns="0" rIns="0" tIns="0" bIns="0">
            <a:spAutoFit/>
          </a:bodyPr>
          <a:lstStyle/>
          <a:p/>
          <a:p>
            <a:pPr marL="274320" indent="-274320">
              <a:spcBef>
                <a:spcPts val="0"/>
              </a:spcBef>
              <a:spcAft>
                <a:spcPts val="900"/>
              </a:spcAft>
              <a:buNone/>
            </a:pPr>
            <a:r>
              <a:rPr sz="1350" b="1">
                <a:solidFill>
                  <a:srgbClr val="2EAD33"/>
                </a:solidFill>
                <a:latin typeface="Segoe UI"/>
              </a:rPr>
              <a:t>▪   </a:t>
            </a:r>
            <a:r>
              <a:rPr sz="1350" b="1">
                <a:solidFill>
                  <a:srgbClr val="212630"/>
                </a:solidFill>
                <a:latin typeface="Segoe UI"/>
              </a:rPr>
              <a:t>A non-engineer can write and review one. </a:t>
            </a:r>
            <a:r>
              <a:rPr sz="1350">
                <a:solidFill>
                  <a:srgbClr val="212630"/>
                </a:solidFill>
                <a:latin typeface="Segoe UI"/>
              </a:rPr>
              <a:t>The scenario is the source of truth, not the generated code.</a:t>
            </a:r>
          </a:p>
          <a:p>
            <a:pPr marL="274320" indent="-274320">
              <a:spcBef>
                <a:spcPts val="0"/>
              </a:spcBef>
              <a:spcAft>
                <a:spcPts val="900"/>
              </a:spcAft>
              <a:buNone/>
            </a:pPr>
            <a:r>
              <a:rPr sz="1350" b="1">
                <a:solidFill>
                  <a:srgbClr val="2EAD33"/>
                </a:solidFill>
                <a:latin typeface="Segoe UI"/>
              </a:rPr>
              <a:t>▪   </a:t>
            </a:r>
            <a:r>
              <a:rPr sz="1350" b="1">
                <a:solidFill>
                  <a:srgbClr val="212630"/>
                </a:solidFill>
                <a:latin typeface="Segoe UI"/>
              </a:rPr>
              <a:t>Each one becomes a real Playwright test, </a:t>
            </a:r>
            <a:r>
              <a:rPr sz="1350">
                <a:solidFill>
                  <a:srgbClr val="212630"/>
                </a:solidFill>
                <a:latin typeface="Segoe UI"/>
              </a:rPr>
              <a:t>tagged for tiered runs.</a:t>
            </a:r>
          </a:p>
          <a:p>
            <a:pPr marL="274320" indent="-274320">
              <a:spcBef>
                <a:spcPts val="0"/>
              </a:spcBef>
              <a:spcAft>
                <a:spcPts val="900"/>
              </a:spcAft>
              <a:buNone/>
            </a:pPr>
            <a:r>
              <a:rPr sz="1350" b="1">
                <a:solidFill>
                  <a:srgbClr val="2EAD33"/>
                </a:solidFill>
                <a:latin typeface="Segoe UI"/>
              </a:rPr>
              <a:t>▪   </a:t>
            </a:r>
            <a:r>
              <a:rPr sz="1350" b="1">
                <a:solidFill>
                  <a:srgbClr val="212630"/>
                </a:solidFill>
                <a:latin typeface="Segoe UI"/>
              </a:rPr>
              <a:t>Generated code lives only inside a managed region. </a:t>
            </a:r>
            <a:r>
              <a:rPr sz="1350">
                <a:solidFill>
                  <a:srgbClr val="212630"/>
                </a:solidFill>
                <a:latin typeface="Segoe UI"/>
              </a:rPr>
              <a:t>Between @digest:managed:start and :end. Everything outside it is handwritten and never touched — so a reviewer knows exactly which lines had no author.</a:t>
            </a:r>
          </a:p>
        </p:txBody>
      </p:sp>
      <p:sp>
        <p:nvSpPr>
          <p:cNvPr id="7" name="TextBox 6"/>
          <p:cNvSpPr txBox="1"/>
          <p:nvPr/>
        </p:nvSpPr>
        <p:spPr>
          <a:xfrm>
            <a:off x="5961888" y="4617720"/>
            <a:ext cx="5662879" cy="457200"/>
          </a:xfrm>
          <a:prstGeom prst="rect">
            <a:avLst/>
          </a:prstGeom>
          <a:noFill/>
        </p:spPr>
        <p:txBody>
          <a:bodyPr wrap="square" anchor="t" lIns="0" rIns="0" tIns="0" bIns="0">
            <a:spAutoFit/>
          </a:bodyPr>
          <a:lstStyle/>
          <a:p>
            <a:pPr algn="l">
              <a:spcBef>
                <a:spcPts val="0"/>
              </a:spcBef>
              <a:spcAft>
                <a:spcPts val="600"/>
              </a:spcAft>
            </a:pPr>
            <a:r>
              <a:rPr sz="1200" b="0">
                <a:solidFill>
                  <a:srgbClr val="171B23"/>
                </a:solidFill>
                <a:latin typeface="Segoe UI"/>
              </a:rPr>
              <a:t>Four verdicts per scenario</a:t>
            </a:r>
          </a:p>
          <a:p>
            <a:pPr algn="l">
              <a:spcBef>
                <a:spcPts val="0"/>
              </a:spcBef>
              <a:spcAft>
                <a:spcPts val="0"/>
              </a:spcAft>
            </a:pPr>
            <a:r>
              <a:rPr sz="1250" b="1">
                <a:solidFill>
                  <a:srgbClr val="1E7A22"/>
                </a:solidFill>
                <a:latin typeface="Segoe UI"/>
              </a:rPr>
              <a:t>generated</a:t>
            </a:r>
            <a:r>
              <a:rPr sz="1250" b="0">
                <a:solidFill>
                  <a:srgbClr val="9AA2AE"/>
                </a:solidFill>
                <a:latin typeface="Segoe UI"/>
              </a:rPr>
              <a:t>  ·  </a:t>
            </a:r>
            <a:r>
              <a:rPr sz="1250" b="1">
                <a:solidFill>
                  <a:srgbClr val="212630"/>
                </a:solidFill>
                <a:latin typeface="Segoe UI"/>
              </a:rPr>
              <a:t>held</a:t>
            </a:r>
            <a:r>
              <a:rPr sz="1250" b="0">
                <a:solidFill>
                  <a:srgbClr val="9AA2AE"/>
                </a:solidFill>
                <a:latin typeface="Segoe UI"/>
              </a:rPr>
              <a:t>  ·  </a:t>
            </a:r>
            <a:r>
              <a:rPr sz="1250" b="1">
                <a:solidFill>
                  <a:srgbClr val="212630"/>
                </a:solidFill>
                <a:latin typeface="Segoe UI"/>
              </a:rPr>
              <a:t>covered</a:t>
            </a:r>
            <a:r>
              <a:rPr sz="1250" b="0">
                <a:solidFill>
                  <a:srgbClr val="9AA2AE"/>
                </a:solidFill>
                <a:latin typeface="Segoe UI"/>
              </a:rPr>
              <a:t>  ·  </a:t>
            </a:r>
            <a:r>
              <a:rPr sz="1250" b="1">
                <a:solidFill>
                  <a:srgbClr val="B46A00"/>
                </a:solidFill>
                <a:latin typeface="Segoe UI"/>
              </a:rPr>
              <a:t>unbuildable</a:t>
            </a:r>
          </a:p>
        </p:txBody>
      </p:sp>
      <p:sp>
        <p:nvSpPr>
          <p:cNvPr id="8" name="Rounded Rectangle 7"/>
          <p:cNvSpPr/>
          <p:nvPr/>
        </p:nvSpPr>
        <p:spPr>
          <a:xfrm>
            <a:off x="566928" y="5230368"/>
            <a:ext cx="11057839" cy="713232"/>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566928" y="5230368"/>
            <a:ext cx="68580" cy="713232"/>
          </a:xfrm>
          <a:prstGeom prst="rect">
            <a:avLst/>
          </a:prstGeom>
          <a:solidFill>
            <a:srgbClr val="2EAD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22960" y="5280659"/>
            <a:ext cx="10600639" cy="612648"/>
          </a:xfrm>
          <a:prstGeom prst="rect">
            <a:avLst/>
          </a:prstGeom>
          <a:noFill/>
        </p:spPr>
        <p:txBody>
          <a:bodyPr wrap="square" anchor="ctr" lIns="0" rIns="0" tIns="0" bIns="0">
            <a:spAutoFit/>
          </a:bodyPr>
          <a:lstStyle/>
          <a:p>
            <a:pPr algn="l">
              <a:lnSpc>
                <a:spcPct val="115000"/>
              </a:lnSpc>
              <a:spcBef>
                <a:spcPts val="0"/>
              </a:spcBef>
              <a:spcAft>
                <a:spcPts val="0"/>
              </a:spcAft>
            </a:pPr>
            <a:r>
              <a:rPr sz="1350" b="1">
                <a:solidFill>
                  <a:srgbClr val="212630"/>
                </a:solidFill>
                <a:latin typeface="Segoe UI"/>
              </a:rPr>
              <a:t>Editing the scenario is the only way to change a generated test. </a:t>
            </a:r>
            <a:r>
              <a:rPr sz="1350" b="0">
                <a:solidFill>
                  <a:srgbClr val="626B7A"/>
                </a:solidFill>
                <a:latin typeface="Segoe UI"/>
              </a:rPr>
              <a:t>A block's hash is its scenario's text — hash moved, re-digest; hash equal, kept verbatim. Hand-editing the spec is overwritten, on purpose.</a:t>
            </a:r>
          </a:p>
        </p:txBody>
      </p:sp>
      <p:sp>
        <p:nvSpPr>
          <p:cNvPr id="11" name="TextBox 10"/>
          <p:cNvSpPr txBox="1"/>
          <p:nvPr/>
        </p:nvSpPr>
        <p:spPr>
          <a:xfrm>
            <a:off x="566928" y="6382512"/>
            <a:ext cx="11057839" cy="274320"/>
          </a:xfrm>
          <a:prstGeom prst="rect">
            <a:avLst/>
          </a:prstGeom>
          <a:noFill/>
        </p:spPr>
        <p:txBody>
          <a:bodyPr wrap="square" anchor="t" lIns="0" rIns="0" tIns="0" bIns="0">
            <a:spAutoFit/>
          </a:bodyPr>
          <a:lstStyle/>
          <a:p>
            <a:pPr algn="l">
              <a:spcBef>
                <a:spcPts val="0"/>
              </a:spcBef>
              <a:spcAft>
                <a:spcPts val="0"/>
              </a:spcAft>
            </a:pPr>
            <a:r>
              <a:rPr sz="1050" b="0">
                <a:solidFill>
                  <a:srgbClr val="9AA2AE"/>
                </a:solidFill>
                <a:latin typeface="Segoe UI"/>
              </a:rPr>
              <a:t>Playwright × AI  ·  QA workshop</a:t>
            </a:r>
            <a:r>
              <a:rPr sz="1050" b="0">
                <a:solidFill>
                  <a:srgbClr val="9AA2AE"/>
                </a:solidFill>
                <a:latin typeface="Segoe UI"/>
              </a:rPr>
              <a:t>        4/10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58368"/>
          </a:xfrm>
          <a:prstGeom prst="rect">
            <a:avLst/>
          </a:prstGeom>
          <a:noFill/>
        </p:spPr>
        <p:txBody>
          <a:bodyPr wrap="square" anchor="t" lIns="0" rIns="0" tIns="0" bIns="0">
            <a:spAutoFit/>
          </a:bodyPr>
          <a:lstStyle/>
          <a:p>
            <a:pPr algn="l">
              <a:spcBef>
                <a:spcPts val="0"/>
              </a:spcBef>
              <a:spcAft>
                <a:spcPts val="0"/>
              </a:spcAft>
            </a:pPr>
            <a:r>
              <a:rPr sz="2900" b="0">
                <a:solidFill>
                  <a:srgbClr val="171B23"/>
                </a:solidFill>
                <a:latin typeface="Segoe UI"/>
              </a:rPr>
              <a:t>Assertions live in the page object, never in the spec</a:t>
            </a:r>
          </a:p>
          <a:p>
            <a:pPr algn="l">
              <a:spcBef>
                <a:spcPts val="0"/>
              </a:spcBef>
              <a:spcAft>
                <a:spcPts val="0"/>
              </a:spcAft>
            </a:pPr>
            <a:r>
              <a:rPr sz="1250" b="0">
                <a:solidFill>
                  <a:srgbClr val="1E7A22"/>
                </a:solidFill>
                <a:latin typeface="Segoe UI"/>
              </a:rPr>
              <a:t>STAGE 3–4  ·  BUILD THE VOCABULARY</a:t>
            </a:r>
          </a:p>
        </p:txBody>
      </p:sp>
      <p:sp>
        <p:nvSpPr>
          <p:cNvPr id="3" name="Rounded Rectangle 2"/>
          <p:cNvSpPr/>
          <p:nvPr/>
        </p:nvSpPr>
        <p:spPr>
          <a:xfrm>
            <a:off x="566928" y="1060704"/>
            <a:ext cx="1051560" cy="50292"/>
          </a:xfrm>
          <a:prstGeom prst="roundRect">
            <a:avLst>
              <a:gd name="adj" fmla="val 50000"/>
            </a:avLst>
          </a:prstGeom>
          <a:solidFill>
            <a:srgbClr val="2EAD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ounded Rectangle 3"/>
          <p:cNvSpPr/>
          <p:nvPr/>
        </p:nvSpPr>
        <p:spPr>
          <a:xfrm>
            <a:off x="566928" y="1691640"/>
            <a:ext cx="6035040" cy="1965960"/>
          </a:xfrm>
          <a:prstGeom prst="roundRect">
            <a:avLst>
              <a:gd name="adj" fmla="val 5500"/>
            </a:avLst>
          </a:prstGeom>
          <a:solidFill>
            <a:srgbClr val="1E232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68096" y="1856232"/>
            <a:ext cx="5632703" cy="1636776"/>
          </a:xfrm>
          <a:prstGeom prst="rect">
            <a:avLst/>
          </a:prstGeom>
          <a:noFill/>
        </p:spPr>
        <p:txBody>
          <a:bodyPr wrap="square" anchor="ctr" lIns="0" rIns="0" tIns="0" bIns="0">
            <a:spAutoFit/>
          </a:bodyPr>
          <a:lstStyle/>
          <a:p>
            <a:pPr algn="l">
              <a:lnSpc>
                <a:spcPct val="100000"/>
              </a:lnSpc>
              <a:spcBef>
                <a:spcPts val="0"/>
              </a:spcBef>
              <a:spcAft>
                <a:spcPts val="350"/>
              </a:spcAft>
            </a:pPr>
            <a:r>
              <a:rPr sz="1150" b="0">
                <a:solidFill>
                  <a:srgbClr val="E7EAF0"/>
                </a:solidFill>
                <a:latin typeface="Segoe UI"/>
              </a:rPr>
              <a:t>test('The pricing section lists all six packages',</a:t>
            </a:r>
          </a:p>
          <a:p>
            <a:pPr algn="l">
              <a:lnSpc>
                <a:spcPct val="100000"/>
              </a:lnSpc>
              <a:spcBef>
                <a:spcPts val="0"/>
              </a:spcBef>
              <a:spcAft>
                <a:spcPts val="350"/>
              </a:spcAft>
            </a:pPr>
            <a:r>
              <a:rPr sz="1150" b="0">
                <a:solidFill>
                  <a:srgbClr val="E7EAF0"/>
                </a:solidFill>
                <a:latin typeface="Segoe UI"/>
              </a:rPr>
              <a:t>     { tag: ['@core', '@smoke'] },</a:t>
            </a:r>
          </a:p>
          <a:p>
            <a:pPr algn="l">
              <a:lnSpc>
                <a:spcPct val="100000"/>
              </a:lnSpc>
              <a:spcBef>
                <a:spcPts val="0"/>
              </a:spcBef>
              <a:spcAft>
                <a:spcPts val="350"/>
              </a:spcAft>
            </a:pPr>
            <a:r>
              <a:rPr sz="1150" b="0">
                <a:solidFill>
                  <a:srgbClr val="E7EAF0"/>
                </a:solidFill>
                <a:latin typeface="Segoe UI"/>
              </a:rPr>
              <a:t>     async ({ landingPage }) =&gt; {</a:t>
            </a:r>
          </a:p>
          <a:p>
            <a:pPr algn="l">
              <a:lnSpc>
                <a:spcPct val="100000"/>
              </a:lnSpc>
              <a:spcBef>
                <a:spcPts val="0"/>
              </a:spcBef>
              <a:spcAft>
                <a:spcPts val="350"/>
              </a:spcAft>
            </a:pPr>
            <a:r>
              <a:rPr sz="1150" b="0">
                <a:solidFill>
                  <a:srgbClr val="E7EAF0"/>
                </a:solidFill>
                <a:latin typeface="Segoe UI"/>
              </a:rPr>
              <a:t>  await landingPage.goto();</a:t>
            </a:r>
          </a:p>
          <a:p>
            <a:pPr algn="l">
              <a:lnSpc>
                <a:spcPct val="100000"/>
              </a:lnSpc>
              <a:spcBef>
                <a:spcPts val="0"/>
              </a:spcBef>
              <a:spcAft>
                <a:spcPts val="350"/>
              </a:spcAft>
            </a:pPr>
            <a:r>
              <a:rPr sz="1150" b="0">
                <a:solidFill>
                  <a:srgbClr val="E7EAF0"/>
                </a:solidFill>
                <a:latin typeface="Segoe UI"/>
              </a:rPr>
              <a:t>  await landingPage.expectPricingListsAllPackages();</a:t>
            </a:r>
          </a:p>
          <a:p>
            <a:pPr algn="l">
              <a:lnSpc>
                <a:spcPct val="100000"/>
              </a:lnSpc>
              <a:spcBef>
                <a:spcPts val="0"/>
              </a:spcBef>
              <a:spcAft>
                <a:spcPts val="350"/>
              </a:spcAft>
            </a:pPr>
            <a:r>
              <a:rPr sz="1150" b="0">
                <a:solidFill>
                  <a:srgbClr val="E7EAF0"/>
                </a:solidFill>
                <a:latin typeface="Segoe UI"/>
              </a:rPr>
              <a:t>});</a:t>
            </a:r>
          </a:p>
        </p:txBody>
      </p:sp>
      <p:sp>
        <p:nvSpPr>
          <p:cNvPr id="6" name="TextBox 5"/>
          <p:cNvSpPr txBox="1"/>
          <p:nvPr/>
        </p:nvSpPr>
        <p:spPr>
          <a:xfrm>
            <a:off x="566928" y="3822191"/>
            <a:ext cx="6035040" cy="1920240"/>
          </a:xfrm>
          <a:prstGeom prst="rect">
            <a:avLst/>
          </a:prstGeom>
          <a:noFill/>
        </p:spPr>
        <p:txBody>
          <a:bodyPr wrap="square" anchor="t" lIns="0" rIns="0" tIns="0" bIns="0">
            <a:spAutoFit/>
          </a:bodyPr>
          <a:lstStyle/>
          <a:p>
            <a:pPr marL="274320" indent="-274320">
              <a:spcBef>
                <a:spcPts val="0"/>
              </a:spcBef>
              <a:spcAft>
                <a:spcPts val="900"/>
              </a:spcAft>
              <a:buNone/>
            </a:pPr>
            <a:r>
              <a:rPr sz="1300" b="1">
                <a:solidFill>
                  <a:srgbClr val="2EAD33"/>
                </a:solidFill>
                <a:latin typeface="Segoe UI"/>
              </a:rPr>
              <a:t>▪   </a:t>
            </a:r>
            <a:r>
              <a:rPr sz="1300" b="1">
                <a:solidFill>
                  <a:srgbClr val="212630"/>
                </a:solidFill>
                <a:latin typeface="Segoe UI"/>
              </a:rPr>
              <a:t>A spec navigates and calls intent-naming methods. </a:t>
            </a:r>
            <a:r>
              <a:rPr sz="1300">
                <a:solidFill>
                  <a:srgbClr val="212630"/>
                </a:solidFill>
                <a:latin typeface="Segoe UI"/>
              </a:rPr>
              <a:t>That is its whole job. No page.locator, no setViewportSize, no expect.</a:t>
            </a:r>
          </a:p>
          <a:p>
            <a:pPr marL="274320" indent="-274320">
              <a:spcBef>
                <a:spcPts val="0"/>
              </a:spcBef>
              <a:spcAft>
                <a:spcPts val="900"/>
              </a:spcAft>
              <a:buNone/>
            </a:pPr>
            <a:r>
              <a:rPr sz="1300" b="1">
                <a:solidFill>
                  <a:srgbClr val="2EAD33"/>
                </a:solidFill>
                <a:latin typeface="Segoe UI"/>
              </a:rPr>
              <a:t>▪   </a:t>
            </a:r>
            <a:r>
              <a:rPr sz="1300" b="1">
                <a:solidFill>
                  <a:srgbClr val="212630"/>
                </a:solidFill>
                <a:latin typeface="Segoe UI"/>
              </a:rPr>
              <a:t>Every assertion carries a message, </a:t>
            </a:r>
            <a:r>
              <a:rPr sz="1300">
                <a:solidFill>
                  <a:srgbClr val="212630"/>
                </a:solidFill>
                <a:latin typeface="Segoe UI"/>
              </a:rPr>
              <a:t>so a failure reads as intent — not as two locator strings.</a:t>
            </a:r>
          </a:p>
        </p:txBody>
      </p:sp>
      <p:sp>
        <p:nvSpPr>
          <p:cNvPr id="7" name="TextBox 6"/>
          <p:cNvSpPr txBox="1"/>
          <p:nvPr/>
        </p:nvSpPr>
        <p:spPr>
          <a:xfrm>
            <a:off x="6967728" y="1737360"/>
            <a:ext cx="4657039" cy="4023360"/>
          </a:xfrm>
          <a:prstGeom prst="rect">
            <a:avLst/>
          </a:prstGeom>
          <a:noFill/>
        </p:spPr>
        <p:txBody>
          <a:bodyPr wrap="square" anchor="t" lIns="0" rIns="0" tIns="0" bIns="0">
            <a:spAutoFit/>
          </a:bodyPr>
          <a:lstStyle/>
          <a:p>
            <a:pPr algn="l">
              <a:spcBef>
                <a:spcPts val="0"/>
              </a:spcBef>
              <a:spcAft>
                <a:spcPts val="1000"/>
              </a:spcAft>
            </a:pPr>
            <a:r>
              <a:rPr sz="1500" b="0">
                <a:solidFill>
                  <a:srgbClr val="171B23"/>
                </a:solidFill>
                <a:latin typeface="Segoe UI"/>
              </a:rPr>
              <a:t>Why it is load-bearing</a:t>
            </a:r>
          </a:p>
          <a:p>
            <a:pPr marL="274320" indent="-274320">
              <a:spcBef>
                <a:spcPts val="0"/>
              </a:spcBef>
              <a:spcAft>
                <a:spcPts val="900"/>
              </a:spcAft>
              <a:buNone/>
            </a:pPr>
            <a:r>
              <a:rPr sz="1250" b="1">
                <a:solidFill>
                  <a:srgbClr val="2EAD33"/>
                </a:solidFill>
                <a:latin typeface="Segoe UI"/>
              </a:rPr>
              <a:t>▪   </a:t>
            </a:r>
            <a:r>
              <a:rPr sz="1250" b="1">
                <a:solidFill>
                  <a:srgbClr val="212630"/>
                </a:solidFill>
                <a:latin typeface="Segoe UI"/>
              </a:rPr>
              <a:t>The page object is the capability index. </a:t>
            </a:r>
            <a:r>
              <a:rPr sz="1250">
                <a:solidFill>
                  <a:srgbClr val="212630"/>
                </a:solidFill>
                <a:latin typeface="Segoe UI"/>
              </a:rPr>
              <a:t>A scenario the POM cannot express is classified unbuildable, skips generation, and becomes a stage-4 work order instead of a test.</a:t>
            </a:r>
          </a:p>
          <a:p>
            <a:pPr marL="274320" indent="-274320">
              <a:spcBef>
                <a:spcPts val="0"/>
              </a:spcBef>
              <a:spcAft>
                <a:spcPts val="900"/>
              </a:spcAft>
              <a:buNone/>
            </a:pPr>
            <a:r>
              <a:rPr sz="1250" b="1">
                <a:solidFill>
                  <a:srgbClr val="2EAD33"/>
                </a:solidFill>
                <a:latin typeface="Segoe UI"/>
              </a:rPr>
              <a:t>▪   </a:t>
            </a:r>
            <a:r>
              <a:rPr sz="1250" b="1">
                <a:solidFill>
                  <a:srgbClr val="212630"/>
                </a:solidFill>
                <a:latin typeface="Segoe UI"/>
              </a:rPr>
              <a:t>That is the second gate. </a:t>
            </a:r>
            <a:r>
              <a:rPr sz="1250">
                <a:solidFill>
                  <a:srgbClr val="212630"/>
                </a:solidFill>
                <a:latin typeface="Segoe UI"/>
              </a:rPr>
              <a:t>'Is it already covered?' is not enough — if the POM cannot express the novel part, generation would drop exactly the behaviour that made the scenario worth writing, and leave a duplicate that still passes.</a:t>
            </a:r>
          </a:p>
          <a:p>
            <a:pPr marL="274320" indent="-274320">
              <a:spcBef>
                <a:spcPts val="0"/>
              </a:spcBef>
              <a:spcAft>
                <a:spcPts val="900"/>
              </a:spcAft>
              <a:buNone/>
            </a:pPr>
            <a:r>
              <a:rPr sz="1250" b="1">
                <a:solidFill>
                  <a:srgbClr val="2EAD33"/>
                </a:solidFill>
                <a:latin typeface="Segoe UI"/>
              </a:rPr>
              <a:t>▪   </a:t>
            </a:r>
            <a:r>
              <a:rPr sz="1250" b="1">
                <a:solidFill>
                  <a:srgbClr val="212630"/>
                </a:solidFill>
                <a:latin typeface="Segoe UI"/>
              </a:rPr>
              <a:t>Stage 3 drives the live app </a:t>
            </a:r>
            <a:r>
              <a:rPr sz="1250">
                <a:solidFill>
                  <a:srgbClr val="212630"/>
                </a:solidFill>
                <a:latin typeface="Segoe UI"/>
              </a:rPr>
              <a:t>and appends what it learns to that domain's instruction.md.</a:t>
            </a:r>
          </a:p>
        </p:txBody>
      </p:sp>
      <p:sp>
        <p:nvSpPr>
          <p:cNvPr id="8" name="TextBox 7"/>
          <p:cNvSpPr txBox="1"/>
          <p:nvPr/>
        </p:nvSpPr>
        <p:spPr>
          <a:xfrm>
            <a:off x="566928" y="6382512"/>
            <a:ext cx="11057839" cy="274320"/>
          </a:xfrm>
          <a:prstGeom prst="rect">
            <a:avLst/>
          </a:prstGeom>
          <a:noFill/>
        </p:spPr>
        <p:txBody>
          <a:bodyPr wrap="square" anchor="t" lIns="0" rIns="0" tIns="0" bIns="0">
            <a:spAutoFit/>
          </a:bodyPr>
          <a:lstStyle/>
          <a:p>
            <a:pPr algn="l">
              <a:spcBef>
                <a:spcPts val="0"/>
              </a:spcBef>
              <a:spcAft>
                <a:spcPts val="0"/>
              </a:spcAft>
            </a:pPr>
            <a:r>
              <a:rPr sz="1050" b="0">
                <a:solidFill>
                  <a:srgbClr val="9AA2AE"/>
                </a:solidFill>
                <a:latin typeface="Segoe UI"/>
              </a:rPr>
              <a:t>Playwright × AI  ·  QA workshop</a:t>
            </a:r>
            <a:r>
              <a:rPr sz="1050" b="0">
                <a:solidFill>
                  <a:srgbClr val="9AA2AE"/>
                </a:solidFill>
                <a:latin typeface="Segoe UI"/>
              </a:rPr>
              <a:t>        5/10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58368"/>
          </a:xfrm>
          <a:prstGeom prst="rect">
            <a:avLst/>
          </a:prstGeom>
          <a:noFill/>
        </p:spPr>
        <p:txBody>
          <a:bodyPr wrap="square" anchor="t" lIns="0" rIns="0" tIns="0" bIns="0">
            <a:spAutoFit/>
          </a:bodyPr>
          <a:lstStyle/>
          <a:p>
            <a:pPr algn="l">
              <a:spcBef>
                <a:spcPts val="0"/>
              </a:spcBef>
              <a:spcAft>
                <a:spcPts val="0"/>
              </a:spcAft>
            </a:pPr>
            <a:r>
              <a:rPr sz="2900" b="0">
                <a:solidFill>
                  <a:srgbClr val="171B23"/>
                </a:solidFill>
                <a:latin typeface="Segoe UI"/>
              </a:rPr>
              <a:t>What actually gets run today</a:t>
            </a:r>
          </a:p>
          <a:p>
            <a:pPr algn="l">
              <a:spcBef>
                <a:spcPts val="0"/>
              </a:spcBef>
              <a:spcAft>
                <a:spcPts val="0"/>
              </a:spcAft>
            </a:pPr>
            <a:r>
              <a:rPr sz="1250" b="0">
                <a:solidFill>
                  <a:srgbClr val="1E7A22"/>
                </a:solidFill>
                <a:latin typeface="Segoe UI"/>
              </a:rPr>
              <a:t>STAGE 5–6  ·  RUN IT</a:t>
            </a:r>
          </a:p>
        </p:txBody>
      </p:sp>
      <p:sp>
        <p:nvSpPr>
          <p:cNvPr id="3" name="Rounded Rectangle 2"/>
          <p:cNvSpPr/>
          <p:nvPr/>
        </p:nvSpPr>
        <p:spPr>
          <a:xfrm>
            <a:off x="566928" y="1060704"/>
            <a:ext cx="1051560" cy="50292"/>
          </a:xfrm>
          <a:prstGeom prst="roundRect">
            <a:avLst>
              <a:gd name="adj" fmla="val 50000"/>
            </a:avLst>
          </a:prstGeom>
          <a:solidFill>
            <a:srgbClr val="2EAD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691640"/>
            <a:ext cx="11057839" cy="2834640"/>
          </a:xfrm>
          <a:prstGeom prst="rect">
            <a:avLst/>
          </a:prstGeom>
          <a:noFill/>
        </p:spPr>
        <p:txBody>
          <a:bodyPr wrap="square" anchor="t" lIns="0" rIns="0" tIns="0" bIns="0">
            <a:spAutoFit/>
          </a:bodyPr>
          <a:lstStyle/>
          <a:p>
            <a:pPr marL="274320" indent="-274320">
              <a:spcBef>
                <a:spcPts val="0"/>
              </a:spcBef>
              <a:spcAft>
                <a:spcPts val="800"/>
              </a:spcAft>
              <a:buNone/>
            </a:pPr>
            <a:r>
              <a:rPr sz="1350" b="1">
                <a:solidFill>
                  <a:srgbClr val="2EAD33"/>
                </a:solidFill>
                <a:latin typeface="Segoe UI"/>
              </a:rPr>
              <a:t>▪   </a:t>
            </a:r>
            <a:r>
              <a:rPr sz="1350" b="1">
                <a:solidFill>
                  <a:srgbClr val="212630"/>
                </a:solidFill>
                <a:latin typeface="Segoe UI"/>
              </a:rPr>
              <a:t>Tags come from the scenario file and are written by the machinery — </a:t>
            </a:r>
            <a:r>
              <a:rPr sz="1350">
                <a:solidFill>
                  <a:srgbClr val="212630"/>
                </a:solidFill>
                <a:latin typeface="Segoe UI"/>
              </a:rPr>
              <a:t>never trusted to the model. A model that forgets a tag would produce a smaller green run, which is not an error anyone sees.</a:t>
            </a:r>
          </a:p>
          <a:p>
            <a:pPr marL="274320" indent="-274320">
              <a:spcBef>
                <a:spcPts val="0"/>
              </a:spcBef>
              <a:spcAft>
                <a:spcPts val="800"/>
              </a:spcAft>
              <a:buNone/>
            </a:pPr>
            <a:r>
              <a:rPr sz="1350" b="1">
                <a:solidFill>
                  <a:srgbClr val="2EAD33"/>
                </a:solidFill>
                <a:latin typeface="Segoe UI"/>
              </a:rPr>
              <a:t>▪   </a:t>
            </a:r>
            <a:r>
              <a:rPr sz="1350" b="1">
                <a:solidFill>
                  <a:srgbClr val="212630"/>
                </a:solidFill>
                <a:latin typeface="Segoe UI"/>
              </a:rPr>
              <a:t>A tiered run selects by tag, not by title. </a:t>
            </a:r>
            <a:r>
              <a:rPr sz="1350">
                <a:solidFill>
                  <a:srgbClr val="212630"/>
                </a:solidFill>
                <a:latin typeface="Segoe UI"/>
              </a:rPr>
              <a:t>npm run stage:6 -- --grep @core. A title filter would drop a test the moment a generated title disagreed with its scenario title — silently, as a smaller green run.</a:t>
            </a:r>
          </a:p>
          <a:p>
            <a:pPr marL="274320" indent="-274320">
              <a:spcBef>
                <a:spcPts val="0"/>
              </a:spcBef>
              <a:spcAft>
                <a:spcPts val="800"/>
              </a:spcAft>
              <a:buNone/>
            </a:pPr>
            <a:r>
              <a:rPr sz="1350" b="1">
                <a:solidFill>
                  <a:srgbClr val="2EAD33"/>
                </a:solidFill>
                <a:latin typeface="Segoe UI"/>
              </a:rPr>
              <a:t>▪   </a:t>
            </a:r>
            <a:r>
              <a:rPr sz="1350" b="1">
                <a:solidFill>
                  <a:srgbClr val="212630"/>
                </a:solidFill>
                <a:latin typeface="Segoe UI"/>
              </a:rPr>
              <a:t>An untagged test is invisible to a tiered run — </a:t>
            </a:r>
            <a:r>
              <a:rPr sz="1350">
                <a:solidFill>
                  <a:srgbClr val="212630"/>
                </a:solidFill>
                <a:latin typeface="Segoe UI"/>
              </a:rPr>
              <a:t>and the run summary says so out loud, rather than letting you assume it was included.</a:t>
            </a:r>
          </a:p>
          <a:p>
            <a:pPr marL="274320" indent="-274320">
              <a:spcBef>
                <a:spcPts val="0"/>
              </a:spcBef>
              <a:spcAft>
                <a:spcPts val="800"/>
              </a:spcAft>
              <a:buNone/>
            </a:pPr>
            <a:r>
              <a:rPr sz="1350" b="1">
                <a:solidFill>
                  <a:srgbClr val="2EAD33"/>
                </a:solidFill>
                <a:latin typeface="Segoe UI"/>
              </a:rPr>
              <a:t>▪   </a:t>
            </a:r>
            <a:r>
              <a:rPr sz="1350" b="1">
                <a:solidFill>
                  <a:srgbClr val="212630"/>
                </a:solidFill>
                <a:latin typeface="Segoe UI"/>
              </a:rPr>
              <a:t>The planner fails open. </a:t>
            </a:r>
            <a:r>
              <a:rPr sz="1350">
                <a:solidFill>
                  <a:srgbClr val="212630"/>
                </a:solidFill>
                <a:latin typeface="Segoe UI"/>
              </a:rPr>
              <a:t>Any degraded input widens the run to the full suite with a named reason, plus an enforced floor: the core tier and every title generated this run.</a:t>
            </a:r>
          </a:p>
        </p:txBody>
      </p:sp>
      <p:sp>
        <p:nvSpPr>
          <p:cNvPr id="5" name="Rounded Rectangle 4"/>
          <p:cNvSpPr/>
          <p:nvPr/>
        </p:nvSpPr>
        <p:spPr>
          <a:xfrm>
            <a:off x="566928" y="4892040"/>
            <a:ext cx="11057839" cy="713232"/>
          </a:xfrm>
          <a:prstGeom prst="roundRect">
            <a:avLst>
              <a:gd name="adj" fmla="val 10000"/>
            </a:avLst>
          </a:prstGeom>
          <a:solidFill>
            <a:srgbClr val="FFF6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566928" y="4892040"/>
            <a:ext cx="68580" cy="713232"/>
          </a:xfrm>
          <a:prstGeom prst="rect">
            <a:avLst/>
          </a:prstGeom>
          <a:solidFill>
            <a:srgbClr val="B4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822960" y="4942331"/>
            <a:ext cx="10600639" cy="612648"/>
          </a:xfrm>
          <a:prstGeom prst="rect">
            <a:avLst/>
          </a:prstGeom>
          <a:noFill/>
        </p:spPr>
        <p:txBody>
          <a:bodyPr wrap="square" anchor="ctr" lIns="0" rIns="0" tIns="0" bIns="0">
            <a:spAutoFit/>
          </a:bodyPr>
          <a:lstStyle/>
          <a:p>
            <a:pPr algn="l">
              <a:lnSpc>
                <a:spcPct val="115000"/>
              </a:lnSpc>
              <a:spcBef>
                <a:spcPts val="0"/>
              </a:spcBef>
              <a:spcAft>
                <a:spcPts val="0"/>
              </a:spcAft>
            </a:pPr>
            <a:r>
              <a:rPr sz="1350" b="1">
                <a:solidFill>
                  <a:srgbClr val="212630"/>
                </a:solidFill>
                <a:latin typeface="Segoe UI"/>
              </a:rPr>
              <a:t>The failure to watch for is not a red run. </a:t>
            </a:r>
            <a:r>
              <a:rPr sz="1350" b="0">
                <a:solidFill>
                  <a:srgbClr val="626B7A"/>
                </a:solidFill>
                <a:latin typeface="Segoe UI"/>
              </a:rPr>
              <a:t>It is a smaller green run — everything that ran passed, and the test that would have failed never ran at all.</a:t>
            </a:r>
          </a:p>
        </p:txBody>
      </p:sp>
      <p:sp>
        <p:nvSpPr>
          <p:cNvPr id="8" name="TextBox 7"/>
          <p:cNvSpPr txBox="1"/>
          <p:nvPr/>
        </p:nvSpPr>
        <p:spPr>
          <a:xfrm>
            <a:off x="566928" y="6382512"/>
            <a:ext cx="11057839" cy="274320"/>
          </a:xfrm>
          <a:prstGeom prst="rect">
            <a:avLst/>
          </a:prstGeom>
          <a:noFill/>
        </p:spPr>
        <p:txBody>
          <a:bodyPr wrap="square" anchor="t" lIns="0" rIns="0" tIns="0" bIns="0">
            <a:spAutoFit/>
          </a:bodyPr>
          <a:lstStyle/>
          <a:p>
            <a:pPr algn="l">
              <a:spcBef>
                <a:spcPts val="0"/>
              </a:spcBef>
              <a:spcAft>
                <a:spcPts val="0"/>
              </a:spcAft>
            </a:pPr>
            <a:r>
              <a:rPr sz="1050" b="0">
                <a:solidFill>
                  <a:srgbClr val="9AA2AE"/>
                </a:solidFill>
                <a:latin typeface="Segoe UI"/>
              </a:rPr>
              <a:t>Playwright × AI  ·  QA workshop</a:t>
            </a:r>
            <a:r>
              <a:rPr sz="1050" b="0">
                <a:solidFill>
                  <a:srgbClr val="9AA2AE"/>
                </a:solidFill>
                <a:latin typeface="Segoe UI"/>
              </a:rPr>
              <a:t>        6/10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58368"/>
          </a:xfrm>
          <a:prstGeom prst="rect">
            <a:avLst/>
          </a:prstGeom>
          <a:noFill/>
        </p:spPr>
        <p:txBody>
          <a:bodyPr wrap="square" anchor="t" lIns="0" rIns="0" tIns="0" bIns="0">
            <a:spAutoFit/>
          </a:bodyPr>
          <a:lstStyle/>
          <a:p>
            <a:pPr algn="l">
              <a:spcBef>
                <a:spcPts val="0"/>
              </a:spcBef>
              <a:spcAft>
                <a:spcPts val="0"/>
              </a:spcAft>
            </a:pPr>
            <a:r>
              <a:rPr sz="2900" b="0">
                <a:solidFill>
                  <a:srgbClr val="171B23"/>
                </a:solidFill>
                <a:latin typeface="Segoe UI"/>
              </a:rPr>
              <a:t>When the app moves and the selector doesn't</a:t>
            </a:r>
          </a:p>
          <a:p>
            <a:pPr algn="l">
              <a:spcBef>
                <a:spcPts val="0"/>
              </a:spcBef>
              <a:spcAft>
                <a:spcPts val="0"/>
              </a:spcAft>
            </a:pPr>
            <a:r>
              <a:rPr sz="1250" b="0">
                <a:solidFill>
                  <a:srgbClr val="1E7A22"/>
                </a:solidFill>
                <a:latin typeface="Segoe UI"/>
              </a:rPr>
              <a:t>STAGE 7  ·  REPAIR</a:t>
            </a:r>
          </a:p>
        </p:txBody>
      </p:sp>
      <p:sp>
        <p:nvSpPr>
          <p:cNvPr id="3" name="Rounded Rectangle 2"/>
          <p:cNvSpPr/>
          <p:nvPr/>
        </p:nvSpPr>
        <p:spPr>
          <a:xfrm>
            <a:off x="566928" y="1060704"/>
            <a:ext cx="1051560" cy="50292"/>
          </a:xfrm>
          <a:prstGeom prst="roundRect">
            <a:avLst>
              <a:gd name="adj" fmla="val 50000"/>
            </a:avLst>
          </a:prstGeom>
          <a:solidFill>
            <a:srgbClr val="2EAD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ounded Rectangle 3"/>
          <p:cNvSpPr/>
          <p:nvPr/>
        </p:nvSpPr>
        <p:spPr>
          <a:xfrm>
            <a:off x="566928" y="1664208"/>
            <a:ext cx="5277459" cy="3246120"/>
          </a:xfrm>
          <a:prstGeom prst="roundRect">
            <a:avLst>
              <a:gd name="adj" fmla="val 7000"/>
            </a:avLst>
          </a:prstGeom>
          <a:solidFill>
            <a:srgbClr val="F3F5F8"/>
          </a:solidFill>
          <a:ln w="12700">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822960" y="1828800"/>
            <a:ext cx="4765395" cy="2926080"/>
          </a:xfrm>
          <a:prstGeom prst="rect">
            <a:avLst/>
          </a:prstGeom>
          <a:noFill/>
        </p:spPr>
        <p:txBody>
          <a:bodyPr wrap="square" anchor="t" lIns="0" rIns="0" tIns="0" bIns="0">
            <a:spAutoFit/>
          </a:bodyPr>
          <a:lstStyle/>
          <a:p>
            <a:pPr algn="l">
              <a:spcBef>
                <a:spcPts val="0"/>
              </a:spcBef>
              <a:spcAft>
                <a:spcPts val="1000"/>
              </a:spcAft>
            </a:pPr>
            <a:r>
              <a:rPr sz="1450" b="0">
                <a:solidFill>
                  <a:srgbClr val="1E7A22"/>
                </a:solidFill>
                <a:latin typeface="Segoe UI"/>
              </a:rPr>
              <a:t>How it heals</a:t>
            </a:r>
          </a:p>
          <a:p>
            <a:pPr marL="237744" indent="-237744">
              <a:spcAft>
                <a:spcPts val="800"/>
              </a:spcAft>
              <a:buNone/>
            </a:pPr>
            <a:r>
              <a:rPr sz="1250" b="1">
                <a:solidFill>
                  <a:srgbClr val="2EAD33"/>
                </a:solidFill>
                <a:latin typeface="Segoe UI"/>
              </a:rPr>
              <a:t>▪   </a:t>
            </a:r>
            <a:r>
              <a:rPr sz="1250" b="1">
                <a:solidFill>
                  <a:srgbClr val="212630"/>
                </a:solidFill>
                <a:latin typeface="Segoe UI"/>
              </a:rPr>
              <a:t>this.loc(selector)</a:t>
            </a:r>
            <a:r>
              <a:rPr sz="1250">
                <a:solidFill>
                  <a:srgbClr val="626B7A"/>
                </a:solidFill>
                <a:latin typeface="Segoe UI"/>
              </a:rPr>
              <a:t> — a raw CSS string: narrow the selector that broke.</a:t>
            </a:r>
          </a:p>
          <a:p>
            <a:pPr marL="237744" indent="-237744">
              <a:spcAft>
                <a:spcPts val="800"/>
              </a:spcAft>
              <a:buNone/>
            </a:pPr>
            <a:r>
              <a:rPr sz="1250" b="1">
                <a:solidFill>
                  <a:srgbClr val="2EAD33"/>
                </a:solidFill>
                <a:latin typeface="Segoe UI"/>
              </a:rPr>
              <a:t>▪   </a:t>
            </a:r>
            <a:r>
              <a:rPr sz="1250" b="1">
                <a:solidFill>
                  <a:srgbClr val="212630"/>
                </a:solidFill>
                <a:latin typeface="Segoe UI"/>
              </a:rPr>
              <a:t>this.byCopy(text, build)</a:t>
            </a:r>
            <a:r>
              <a:rPr sz="1250">
                <a:solidFill>
                  <a:srgbClr val="626B7A"/>
                </a:solidFill>
                <a:latin typeface="Segoe UI"/>
              </a:rPr>
              <a:t> — an element identified by its copy: take the nearest on-page text, only when it is uniquely nearest and above a high similarity floor.</a:t>
            </a:r>
          </a:p>
          <a:p>
            <a:pPr marL="237744" indent="-237744">
              <a:spcAft>
                <a:spcPts val="800"/>
              </a:spcAft>
              <a:buNone/>
            </a:pPr>
            <a:r>
              <a:rPr sz="1250" b="1">
                <a:solidFill>
                  <a:srgbClr val="2EAD33"/>
                </a:solidFill>
                <a:latin typeface="Segoe UI"/>
              </a:rPr>
              <a:t>▪   </a:t>
            </a:r>
            <a:r>
              <a:rPr sz="1250" b="1">
                <a:solidFill>
                  <a:srgbClr val="212630"/>
                </a:solidFill>
                <a:latin typeface="Segoe UI"/>
              </a:rPr>
              <a:t>No model in this path.</a:t>
            </a:r>
            <a:r>
              <a:rPr sz="1250">
                <a:solidFill>
                  <a:srgbClr val="626B7A"/>
                </a:solidFill>
                <a:latin typeface="Segoe UI"/>
              </a:rPr>
              <a:t> A CSS candidate is a mechanical narrowing; a copy candidate is a distance. Two near-identical candidates are a coin toss, so neither is taken — a wrong locator that matches the wrong element passes, which is worse than the honest failure it replaced.</a:t>
            </a:r>
          </a:p>
        </p:txBody>
      </p:sp>
      <p:sp>
        <p:nvSpPr>
          <p:cNvPr id="6" name="Rounded Rectangle 5"/>
          <p:cNvSpPr/>
          <p:nvPr/>
        </p:nvSpPr>
        <p:spPr>
          <a:xfrm>
            <a:off x="6347307" y="1664208"/>
            <a:ext cx="5277459" cy="3246120"/>
          </a:xfrm>
          <a:prstGeom prst="roundRect">
            <a:avLst>
              <a:gd name="adj" fmla="val 7000"/>
            </a:avLst>
          </a:prstGeom>
          <a:solidFill>
            <a:srgbClr val="FFFFFF"/>
          </a:solidFill>
          <a:ln w="12700">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603339" y="1828800"/>
            <a:ext cx="4765395" cy="2926080"/>
          </a:xfrm>
          <a:prstGeom prst="rect">
            <a:avLst/>
          </a:prstGeom>
          <a:noFill/>
        </p:spPr>
        <p:txBody>
          <a:bodyPr wrap="square" anchor="t" lIns="0" rIns="0" tIns="0" bIns="0">
            <a:spAutoFit/>
          </a:bodyPr>
          <a:lstStyle/>
          <a:p>
            <a:pPr algn="l">
              <a:spcBef>
                <a:spcPts val="0"/>
              </a:spcBef>
              <a:spcAft>
                <a:spcPts val="1000"/>
              </a:spcAft>
            </a:pPr>
            <a:r>
              <a:rPr sz="1450" b="0">
                <a:solidFill>
                  <a:srgbClr val="B46A00"/>
                </a:solidFill>
                <a:latin typeface="Segoe UI"/>
              </a:rPr>
              <a:t>When it refuses — also the job</a:t>
            </a:r>
          </a:p>
          <a:p>
            <a:pPr marL="237744" indent="-237744">
              <a:spcAft>
                <a:spcPts val="800"/>
              </a:spcAft>
              <a:buNone/>
            </a:pPr>
            <a:r>
              <a:rPr sz="1250" b="1">
                <a:solidFill>
                  <a:srgbClr val="B46A00"/>
                </a:solidFill>
                <a:latin typeface="Segoe UI"/>
              </a:rPr>
              <a:t>▪   </a:t>
            </a:r>
            <a:r>
              <a:rPr sz="1250" b="1">
                <a:solidFill>
                  <a:srgbClr val="212630"/>
                </a:solidFill>
                <a:latin typeface="Segoe UI"/>
              </a:rPr>
              <a:t>The feature is genuinely gone.</a:t>
            </a:r>
            <a:r>
              <a:rPr sz="1250">
                <a:solidFill>
                  <a:srgbClr val="626B7A"/>
                </a:solidFill>
                <a:latin typeface="Segoe UI"/>
              </a:rPr>
              <a:t> A real failure, for a human.</a:t>
            </a:r>
          </a:p>
          <a:p>
            <a:pPr marL="237744" indent="-237744">
              <a:spcAft>
                <a:spcPts val="800"/>
              </a:spcAft>
              <a:buNone/>
            </a:pPr>
            <a:r>
              <a:rPr sz="1250" b="1">
                <a:solidFill>
                  <a:srgbClr val="B46A00"/>
                </a:solidFill>
                <a:latin typeface="Segoe UI"/>
              </a:rPr>
              <a:t>▪   </a:t>
            </a:r>
            <a:r>
              <a:rPr sz="1250" b="1">
                <a:solidFill>
                  <a:srgbClr val="212630"/>
                </a:solidFill>
                <a:latin typeface="Segoe UI"/>
              </a:rPr>
              <a:t>A timing or state failure.</a:t>
            </a:r>
            <a:r>
              <a:rPr sz="1250">
                <a:solidFill>
                  <a:srgbClr val="626B7A"/>
                </a:solidFill>
                <a:latin typeface="Segoe UI"/>
              </a:rPr>
              <a:t> A test bug, not a locator bug.</a:t>
            </a:r>
          </a:p>
          <a:p>
            <a:pPr marL="237744" indent="-237744">
              <a:spcAft>
                <a:spcPts val="800"/>
              </a:spcAft>
              <a:buNone/>
            </a:pPr>
            <a:r>
              <a:rPr sz="1250" b="1">
                <a:solidFill>
                  <a:srgbClr val="B46A00"/>
                </a:solidFill>
                <a:latin typeface="Segoe UI"/>
              </a:rPr>
              <a:t>▪   </a:t>
            </a:r>
            <a:r>
              <a:rPr sz="1250" b="1">
                <a:solidFill>
                  <a:srgbClr val="212630"/>
                </a:solidFill>
                <a:latin typeface="Segoe UI"/>
              </a:rPr>
              <a:t>The copy belongs to another locale.</a:t>
            </a:r>
            <a:r>
              <a:rPr sz="1250">
                <a:solidFill>
                  <a:srgbClr val="626B7A"/>
                </a:solidFill>
                <a:latin typeface="Segoe UI"/>
              </a:rPr>
              <a:t> /en “Portfolio” vs /id “Portofolio” is 0.90 similar — unguarded, one run against /id would rewrite the English copy and break /en.</a:t>
            </a:r>
          </a:p>
          <a:p>
            <a:pPr marL="237744" indent="-237744">
              <a:spcAft>
                <a:spcPts val="800"/>
              </a:spcAft>
              <a:buNone/>
            </a:pPr>
            <a:r>
              <a:rPr sz="1250" b="1">
                <a:solidFill>
                  <a:srgbClr val="B46A00"/>
                </a:solidFill>
                <a:latin typeface="Segoe UI"/>
              </a:rPr>
              <a:t>▪   </a:t>
            </a:r>
            <a:r>
              <a:rPr sz="1250" b="1">
                <a:solidFill>
                  <a:srgbClr val="212630"/>
                </a:solidFill>
                <a:latin typeface="Segoe UI"/>
              </a:rPr>
              <a:t>Every refusal is recorded with a named reason.</a:t>
            </a:r>
            <a:r>
              <a:rPr sz="1250">
                <a:solidFill>
                  <a:srgbClr val="626B7A"/>
                </a:solidFill>
                <a:latin typeface="Segoe UI"/>
              </a:rPr>
              <a:t> no-candidate · ambiguous · not-unique · locale-mismatch.</a:t>
            </a:r>
          </a:p>
        </p:txBody>
      </p:sp>
      <p:sp>
        <p:nvSpPr>
          <p:cNvPr id="8" name="Rounded Rectangle 7"/>
          <p:cNvSpPr/>
          <p:nvPr/>
        </p:nvSpPr>
        <p:spPr>
          <a:xfrm>
            <a:off x="566928" y="5029200"/>
            <a:ext cx="11057839" cy="658368"/>
          </a:xfrm>
          <a:prstGeom prst="roundRect">
            <a:avLst>
              <a:gd name="adj" fmla="val 5500"/>
            </a:avLst>
          </a:prstGeom>
          <a:solidFill>
            <a:srgbClr val="1E232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768096" y="5193792"/>
            <a:ext cx="10655503" cy="329184"/>
          </a:xfrm>
          <a:prstGeom prst="rect">
            <a:avLst/>
          </a:prstGeom>
          <a:noFill/>
        </p:spPr>
        <p:txBody>
          <a:bodyPr wrap="square" anchor="ctr" lIns="0" rIns="0" tIns="0" bIns="0">
            <a:spAutoFit/>
          </a:bodyPr>
          <a:lstStyle/>
          <a:p>
            <a:pPr algn="l">
              <a:lnSpc>
                <a:spcPct val="100000"/>
              </a:lnSpc>
              <a:spcBef>
                <a:spcPts val="0"/>
              </a:spcBef>
              <a:spcAft>
                <a:spcPts val="350"/>
              </a:spcAft>
            </a:pPr>
            <a:r>
              <a:rPr sz="1150" b="0">
                <a:solidFill>
                  <a:srgbClr val="E7EAF0"/>
                </a:solidFill>
                <a:latin typeface="Segoe UI"/>
              </a:rPr>
              <a:t>[self-heal] 1 locator repaired:  'Macroz and Product Photographer' → 'Macro and Product Photographer'   (the test passed on it)</a:t>
            </a:r>
          </a:p>
        </p:txBody>
      </p:sp>
      <p:sp>
        <p:nvSpPr>
          <p:cNvPr id="10" name="Rounded Rectangle 9"/>
          <p:cNvSpPr/>
          <p:nvPr/>
        </p:nvSpPr>
        <p:spPr>
          <a:xfrm>
            <a:off x="566928" y="5852160"/>
            <a:ext cx="11057839" cy="603504"/>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566928" y="5852160"/>
            <a:ext cx="68580" cy="603504"/>
          </a:xfrm>
          <a:prstGeom prst="rect">
            <a:avLst/>
          </a:prstGeom>
          <a:solidFill>
            <a:srgbClr val="2EAD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22960" y="5902452"/>
            <a:ext cx="10600639" cy="502920"/>
          </a:xfrm>
          <a:prstGeom prst="rect">
            <a:avLst/>
          </a:prstGeom>
          <a:noFill/>
        </p:spPr>
        <p:txBody>
          <a:bodyPr wrap="square" anchor="ctr" lIns="0" rIns="0" tIns="0" bIns="0">
            <a:spAutoFit/>
          </a:bodyPr>
          <a:lstStyle/>
          <a:p>
            <a:pPr algn="l">
              <a:lnSpc>
                <a:spcPct val="115000"/>
              </a:lnSpc>
              <a:spcBef>
                <a:spcPts val="0"/>
              </a:spcBef>
              <a:spcAft>
                <a:spcPts val="0"/>
              </a:spcAft>
            </a:pPr>
            <a:r>
              <a:rPr sz="1350" b="1">
                <a:solidFill>
                  <a:srgbClr val="212630"/>
                </a:solidFill>
                <a:latin typeface="Segoe UI"/>
              </a:rPr>
              <a:t>A heal is only as good as the test that used it. </a:t>
            </a:r>
            <a:r>
              <a:rPr sz="1350" b="0">
                <a:solidFill>
                  <a:srgbClr val="626B7A"/>
                </a:solidFill>
                <a:latin typeface="Segoe UI"/>
              </a:rPr>
              <a:t>Only a repair whose test PASSED is written into the source; a repair whose test failed is declined and named. Otherwise a failing test disappears and a wrong locator gets committed.</a:t>
            </a:r>
          </a:p>
        </p:txBody>
      </p:sp>
      <p:sp>
        <p:nvSpPr>
          <p:cNvPr id="13" name="TextBox 12"/>
          <p:cNvSpPr txBox="1"/>
          <p:nvPr/>
        </p:nvSpPr>
        <p:spPr>
          <a:xfrm>
            <a:off x="566928" y="6382512"/>
            <a:ext cx="11057839" cy="274320"/>
          </a:xfrm>
          <a:prstGeom prst="rect">
            <a:avLst/>
          </a:prstGeom>
          <a:noFill/>
        </p:spPr>
        <p:txBody>
          <a:bodyPr wrap="square" anchor="t" lIns="0" rIns="0" tIns="0" bIns="0">
            <a:spAutoFit/>
          </a:bodyPr>
          <a:lstStyle/>
          <a:p>
            <a:pPr algn="l">
              <a:spcBef>
                <a:spcPts val="0"/>
              </a:spcBef>
              <a:spcAft>
                <a:spcPts val="0"/>
              </a:spcAft>
            </a:pPr>
            <a:r>
              <a:rPr sz="1050" b="0">
                <a:solidFill>
                  <a:srgbClr val="9AA2AE"/>
                </a:solidFill>
                <a:latin typeface="Segoe UI"/>
              </a:rPr>
              <a:t>Playwright × AI  ·  QA workshop</a:t>
            </a:r>
            <a:r>
              <a:rPr sz="1050" b="0">
                <a:solidFill>
                  <a:srgbClr val="9AA2AE"/>
                </a:solidFill>
                <a:latin typeface="Segoe UI"/>
              </a:rPr>
              <a:t>        7/10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58368"/>
          </a:xfrm>
          <a:prstGeom prst="rect">
            <a:avLst/>
          </a:prstGeom>
          <a:noFill/>
        </p:spPr>
        <p:txBody>
          <a:bodyPr wrap="square" anchor="t" lIns="0" rIns="0" tIns="0" bIns="0">
            <a:spAutoFit/>
          </a:bodyPr>
          <a:lstStyle/>
          <a:p>
            <a:pPr algn="l">
              <a:spcBef>
                <a:spcPts val="0"/>
              </a:spcBef>
              <a:spcAft>
                <a:spcPts val="0"/>
              </a:spcAft>
            </a:pPr>
            <a:r>
              <a:rPr sz="2900" b="0">
                <a:solidFill>
                  <a:srgbClr val="171B23"/>
                </a:solidFill>
                <a:latin typeface="Segoe UI"/>
              </a:rPr>
              <a:t>The bug class this is all built against: the silent green</a:t>
            </a:r>
          </a:p>
          <a:p>
            <a:pPr algn="l">
              <a:spcBef>
                <a:spcPts val="0"/>
              </a:spcBef>
              <a:spcAft>
                <a:spcPts val="0"/>
              </a:spcAft>
            </a:pPr>
            <a:r>
              <a:rPr sz="1250" b="0">
                <a:solidFill>
                  <a:srgbClr val="1E7A22"/>
                </a:solidFill>
                <a:latin typeface="Segoe UI"/>
              </a:rPr>
              <a:t>WHY THE GATES EXIST</a:t>
            </a:r>
          </a:p>
        </p:txBody>
      </p:sp>
      <p:sp>
        <p:nvSpPr>
          <p:cNvPr id="3" name="Rounded Rectangle 2"/>
          <p:cNvSpPr/>
          <p:nvPr/>
        </p:nvSpPr>
        <p:spPr>
          <a:xfrm>
            <a:off x="566928" y="1060704"/>
            <a:ext cx="1051560" cy="50292"/>
          </a:xfrm>
          <a:prstGeom prst="roundRect">
            <a:avLst>
              <a:gd name="adj" fmla="val 50000"/>
            </a:avLst>
          </a:prstGeom>
          <a:solidFill>
            <a:srgbClr val="2EAD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graphicFrame>
        <p:nvGraphicFramePr>
          <p:cNvPr id="4" name="Table 3"/>
          <p:cNvGraphicFramePr>
            <a:graphicFrameLocks noGrp="1"/>
          </p:cNvGraphicFramePr>
          <p:nvPr/>
        </p:nvGraphicFramePr>
        <p:xfrm>
          <a:off x="566928" y="1572768"/>
          <a:ext cx="11055096" cy="4178808"/>
        </p:xfrm>
        <a:graphic>
          <a:graphicData uri="http://schemas.openxmlformats.org/drawingml/2006/table">
            <a:tbl>
              <a:tblPr>
                <a:tableStyleId>{2D5ABB26-0587-4C30-8999-92F81FD0307C}</a:tableStyleId>
              </a:tblPr>
              <a:tblGrid>
                <a:gridCol w="3063240"/>
                <a:gridCol w="5303520"/>
                <a:gridCol w="2688336"/>
              </a:tblGrid>
              <a:tr h="384048">
                <a:tc>
                  <a:txBody>
                    <a:bodyPr wrap="square"/>
                    <a:lstStyle/>
                    <a:p>
                      <a:pPr algn="l">
                        <a:lnSpc>
                          <a:spcPct val="105000"/>
                        </a:lnSpc>
                        <a:spcBef>
                          <a:spcPts val="0"/>
                        </a:spcBef>
                        <a:spcAft>
                          <a:spcPts val="0"/>
                        </a:spcAft>
                      </a:pPr>
                      <a:r>
                        <a:rPr sz="1150" b="1">
                          <a:solidFill>
                            <a:srgbClr val="FFFFFF"/>
                          </a:solidFill>
                          <a:latin typeface="Segoe UI"/>
                        </a:rPr>
                        <a:t>It looked like this…</a:t>
                      </a:r>
                    </a:p>
                  </a:txBody>
                  <a:tcPr marL="118872" marR="91440" marT="45720" marB="45720" anchor="ctr">
                    <a:solidFill>
                      <a:srgbClr val="171B23"/>
                    </a:solidFill>
                  </a:tcPr>
                </a:tc>
                <a:tc>
                  <a:txBody>
                    <a:bodyPr wrap="square"/>
                    <a:lstStyle/>
                    <a:p>
                      <a:pPr algn="l">
                        <a:lnSpc>
                          <a:spcPct val="105000"/>
                        </a:lnSpc>
                        <a:spcBef>
                          <a:spcPts val="0"/>
                        </a:spcBef>
                        <a:spcAft>
                          <a:spcPts val="0"/>
                        </a:spcAft>
                      </a:pPr>
                      <a:r>
                        <a:rPr sz="1150" b="1">
                          <a:solidFill>
                            <a:srgbClr val="FFFFFF"/>
                          </a:solidFill>
                          <a:latin typeface="Segoe UI"/>
                        </a:rPr>
                        <a:t>What it actually was</a:t>
                      </a:r>
                    </a:p>
                  </a:txBody>
                  <a:tcPr marL="118872" marR="91440" marT="45720" marB="45720" anchor="ctr">
                    <a:solidFill>
                      <a:srgbClr val="171B23"/>
                    </a:solidFill>
                  </a:tcPr>
                </a:tc>
                <a:tc>
                  <a:txBody>
                    <a:bodyPr wrap="square"/>
                    <a:lstStyle/>
                    <a:p>
                      <a:pPr algn="l">
                        <a:lnSpc>
                          <a:spcPct val="105000"/>
                        </a:lnSpc>
                        <a:spcBef>
                          <a:spcPts val="0"/>
                        </a:spcBef>
                        <a:spcAft>
                          <a:spcPts val="0"/>
                        </a:spcAft>
                      </a:pPr>
                      <a:r>
                        <a:rPr sz="1150" b="1">
                          <a:solidFill>
                            <a:srgbClr val="FFFFFF"/>
                          </a:solidFill>
                          <a:latin typeface="Segoe UI"/>
                        </a:rPr>
                        <a:t>Caught by</a:t>
                      </a:r>
                    </a:p>
                  </a:txBody>
                  <a:tcPr marL="118872" marR="91440" marT="45720" marB="45720" anchor="ctr">
                    <a:solidFill>
                      <a:srgbClr val="171B23"/>
                    </a:solidFill>
                  </a:tcPr>
                </a:tc>
              </a:tr>
              <a:tr h="758952">
                <a:tc>
                  <a:txBody>
                    <a:bodyPr wrap="square"/>
                    <a:lstStyle/>
                    <a:p>
                      <a:pPr algn="l">
                        <a:lnSpc>
                          <a:spcPct val="105000"/>
                        </a:lnSpc>
                        <a:spcBef>
                          <a:spcPts val="0"/>
                        </a:spcBef>
                        <a:spcAft>
                          <a:spcPts val="0"/>
                        </a:spcAft>
                      </a:pPr>
                      <a:r>
                        <a:rPr sz="1100" b="0">
                          <a:solidFill>
                            <a:srgbClr val="212630"/>
                          </a:solidFill>
                          <a:latin typeface="Segoe UI"/>
                        </a:rPr>
                        <a:t>Test passed — no visual error</a:t>
                      </a:r>
                    </a:p>
                  </a:txBody>
                  <a:tcPr marL="118872" marR="91440" marT="45720" marB="45720" anchor="ctr">
                    <a:solidFill>
                      <a:srgbClr val="FFFFFF"/>
                    </a:solidFill>
                  </a:tcPr>
                </a:tc>
                <a:tc>
                  <a:txBody>
                    <a:bodyPr wrap="square"/>
                    <a:lstStyle/>
                    <a:p>
                      <a:pPr algn="l">
                        <a:lnSpc>
                          <a:spcPct val="105000"/>
                        </a:lnSpc>
                        <a:spcBef>
                          <a:spcPts val="0"/>
                        </a:spcBef>
                        <a:spcAft>
                          <a:spcPts val="0"/>
                        </a:spcAft>
                      </a:pPr>
                      <a:r>
                        <a:rPr sz="1100" b="0">
                          <a:solidFill>
                            <a:srgbClr val="212630"/>
                          </a:solidFill>
                          <a:latin typeface="Segoe UI"/>
                        </a:rPr>
                        <a:t>The check was blind: a 300px widget in a 276px form column spilled 24px, while the document's scroll width never changed.</a:t>
                      </a:r>
                    </a:p>
                  </a:txBody>
                  <a:tcPr marL="118872" marR="91440" marT="45720" marB="45720" anchor="ctr">
                    <a:solidFill>
                      <a:srgbClr val="FFFFFF"/>
                    </a:solidFill>
                  </a:tcPr>
                </a:tc>
                <a:tc>
                  <a:txBody>
                    <a:bodyPr wrap="square"/>
                    <a:lstStyle/>
                    <a:p>
                      <a:pPr algn="l">
                        <a:lnSpc>
                          <a:spcPct val="105000"/>
                        </a:lnSpc>
                        <a:spcBef>
                          <a:spcPts val="0"/>
                        </a:spcBef>
                        <a:spcAft>
                          <a:spcPts val="0"/>
                        </a:spcAft>
                      </a:pPr>
                      <a:r>
                        <a:rPr sz="1100" b="0">
                          <a:solidFill>
                            <a:srgbClr val="212630"/>
                          </a:solidFill>
                          <a:latin typeface="Segoe UI"/>
                        </a:rPr>
                        <a:t>Measuring elements, not just the document</a:t>
                      </a:r>
                    </a:p>
                  </a:txBody>
                  <a:tcPr marL="118872" marR="91440" marT="45720" marB="45720" anchor="ctr">
                    <a:solidFill>
                      <a:srgbClr val="FFFFFF"/>
                    </a:solidFill>
                  </a:tcPr>
                </a:tc>
              </a:tr>
              <a:tr h="758952">
                <a:tc>
                  <a:txBody>
                    <a:bodyPr wrap="square"/>
                    <a:lstStyle/>
                    <a:p>
                      <a:pPr algn="l">
                        <a:lnSpc>
                          <a:spcPct val="105000"/>
                        </a:lnSpc>
                        <a:spcBef>
                          <a:spcPts val="0"/>
                        </a:spcBef>
                        <a:spcAft>
                          <a:spcPts val="0"/>
                        </a:spcAft>
                      </a:pPr>
                      <a:r>
                        <a:rPr sz="1100" b="0">
                          <a:solidFill>
                            <a:srgbClr val="212630"/>
                          </a:solidFill>
                          <a:latin typeface="Segoe UI"/>
                        </a:rPr>
                        <a:t>“Already covered”, no change made</a:t>
                      </a:r>
                    </a:p>
                  </a:txBody>
                  <a:tcPr marL="118872" marR="91440" marT="45720" marB="45720" anchor="ctr">
                    <a:solidFill>
                      <a:srgbClr val="F3F5F8"/>
                    </a:solidFill>
                  </a:tcPr>
                </a:tc>
                <a:tc>
                  <a:txBody>
                    <a:bodyPr wrap="square"/>
                    <a:lstStyle/>
                    <a:p>
                      <a:pPr algn="l">
                        <a:lnSpc>
                          <a:spcPct val="105000"/>
                        </a:lnSpc>
                        <a:spcBef>
                          <a:spcPts val="0"/>
                        </a:spcBef>
                        <a:spcAft>
                          <a:spcPts val="0"/>
                        </a:spcAft>
                      </a:pPr>
                      <a:r>
                        <a:rPr sz="1100" b="0">
                          <a:solidFill>
                            <a:srgbClr val="212630"/>
                          </a:solidFill>
                          <a:latin typeface="Segoe UI"/>
                        </a:rPr>
                        <a:t>A stale test vouched for itself: the classifier was asked with the old block's own title in the evidence list, so an edited scenario never reached the spec.</a:t>
                      </a:r>
                    </a:p>
                  </a:txBody>
                  <a:tcPr marL="118872" marR="91440" marT="45720" marB="45720" anchor="ctr">
                    <a:solidFill>
                      <a:srgbClr val="F3F5F8"/>
                    </a:solidFill>
                  </a:tcPr>
                </a:tc>
                <a:tc>
                  <a:txBody>
                    <a:bodyPr wrap="square"/>
                    <a:lstStyle/>
                    <a:p>
                      <a:pPr algn="l">
                        <a:lnSpc>
                          <a:spcPct val="105000"/>
                        </a:lnSpc>
                        <a:spcBef>
                          <a:spcPts val="0"/>
                        </a:spcBef>
                        <a:spcAft>
                          <a:spcPts val="0"/>
                        </a:spcAft>
                      </a:pPr>
                      <a:r>
                        <a:rPr sz="1100" b="0">
                          <a:solidFill>
                            <a:srgbClr val="212630"/>
                          </a:solidFill>
                          <a:latin typeface="Segoe UI"/>
                        </a:rPr>
                        <a:t>The block hash decides first</a:t>
                      </a:r>
                    </a:p>
                  </a:txBody>
                  <a:tcPr marL="118872" marR="91440" marT="45720" marB="45720" anchor="ctr">
                    <a:solidFill>
                      <a:srgbClr val="F3F5F8"/>
                    </a:solidFill>
                  </a:tcPr>
                </a:tc>
              </a:tr>
              <a:tr h="758952">
                <a:tc>
                  <a:txBody>
                    <a:bodyPr wrap="square"/>
                    <a:lstStyle/>
                    <a:p>
                      <a:pPr algn="l">
                        <a:lnSpc>
                          <a:spcPct val="105000"/>
                        </a:lnSpc>
                        <a:spcBef>
                          <a:spcPts val="0"/>
                        </a:spcBef>
                        <a:spcAft>
                          <a:spcPts val="0"/>
                        </a:spcAft>
                      </a:pPr>
                      <a:r>
                        <a:rPr sz="1100" b="0">
                          <a:solidFill>
                            <a:srgbClr val="212630"/>
                          </a:solidFill>
                          <a:latin typeface="Segoe UI"/>
                        </a:rPr>
                        <a:t>Locator healed, test passed</a:t>
                      </a:r>
                    </a:p>
                  </a:txBody>
                  <a:tcPr marL="118872" marR="91440" marT="45720" marB="45720" anchor="ctr">
                    <a:solidFill>
                      <a:srgbClr val="FFFFFF"/>
                    </a:solidFill>
                  </a:tcPr>
                </a:tc>
                <a:tc>
                  <a:txBody>
                    <a:bodyPr wrap="square"/>
                    <a:lstStyle/>
                    <a:p>
                      <a:pPr algn="l">
                        <a:lnSpc>
                          <a:spcPct val="105000"/>
                        </a:lnSpc>
                        <a:spcBef>
                          <a:spcPts val="0"/>
                        </a:spcBef>
                        <a:spcAft>
                          <a:spcPts val="0"/>
                        </a:spcAft>
                      </a:pPr>
                      <a:r>
                        <a:rPr sz="1100" b="0">
                          <a:solidFill>
                            <a:srgbClr val="212630"/>
                          </a:solidFill>
                          <a:latin typeface="Segoe UI"/>
                        </a:rPr>
                        <a:t>The repair pointed at the neighbouring element and the assertion then failed. Folding it in would commit a wrong locator and delete the failure.</a:t>
                      </a:r>
                    </a:p>
                  </a:txBody>
                  <a:tcPr marL="118872" marR="91440" marT="45720" marB="45720" anchor="ctr">
                    <a:solidFill>
                      <a:srgbClr val="FFFFFF"/>
                    </a:solidFill>
                  </a:tcPr>
                </a:tc>
                <a:tc>
                  <a:txBody>
                    <a:bodyPr wrap="square"/>
                    <a:lstStyle/>
                    <a:p>
                      <a:pPr algn="l">
                        <a:lnSpc>
                          <a:spcPct val="105000"/>
                        </a:lnSpc>
                        <a:spcBef>
                          <a:spcPts val="0"/>
                        </a:spcBef>
                        <a:spcAft>
                          <a:spcPts val="0"/>
                        </a:spcAft>
                      </a:pPr>
                      <a:r>
                        <a:rPr sz="1100" b="0">
                          <a:solidFill>
                            <a:srgbClr val="212630"/>
                          </a:solidFill>
                          <a:latin typeface="Segoe UI"/>
                        </a:rPr>
                        <a:t>Only a test-passed repair is written</a:t>
                      </a:r>
                    </a:p>
                  </a:txBody>
                  <a:tcPr marL="118872" marR="91440" marT="45720" marB="45720" anchor="ctr">
                    <a:solidFill>
                      <a:srgbClr val="FFFFFF"/>
                    </a:solidFill>
                  </a:tcPr>
                </a:tc>
              </a:tr>
              <a:tr h="758952">
                <a:tc>
                  <a:txBody>
                    <a:bodyPr wrap="square"/>
                    <a:lstStyle/>
                    <a:p>
                      <a:pPr algn="l">
                        <a:lnSpc>
                          <a:spcPct val="105000"/>
                        </a:lnSpc>
                        <a:spcBef>
                          <a:spcPts val="0"/>
                        </a:spcBef>
                        <a:spcAft>
                          <a:spcPts val="0"/>
                        </a:spcAft>
                      </a:pPr>
                      <a:r>
                        <a:rPr sz="1100" b="0">
                          <a:solidFill>
                            <a:srgbClr val="212630"/>
                          </a:solidFill>
                          <a:latin typeface="Segoe UI"/>
                        </a:rPr>
                        <a:t>--grep @core passed</a:t>
                      </a:r>
                    </a:p>
                  </a:txBody>
                  <a:tcPr marL="118872" marR="91440" marT="45720" marB="45720" anchor="ctr">
                    <a:solidFill>
                      <a:srgbClr val="F3F5F8"/>
                    </a:solidFill>
                  </a:tcPr>
                </a:tc>
                <a:tc>
                  <a:txBody>
                    <a:bodyPr wrap="square"/>
                    <a:lstStyle/>
                    <a:p>
                      <a:pPr algn="l">
                        <a:lnSpc>
                          <a:spcPct val="105000"/>
                        </a:lnSpc>
                        <a:spcBef>
                          <a:spcPts val="0"/>
                        </a:spcBef>
                        <a:spcAft>
                          <a:spcPts val="0"/>
                        </a:spcAft>
                      </a:pPr>
                      <a:r>
                        <a:rPr sz="1100" b="0">
                          <a:solidFill>
                            <a:srgbClr val="212630"/>
                          </a:solidFill>
                          <a:latin typeface="Segoe UI"/>
                        </a:rPr>
                        <a:t>An untagged test was never selected at all.</a:t>
                      </a:r>
                    </a:p>
                  </a:txBody>
                  <a:tcPr marL="118872" marR="91440" marT="45720" marB="45720" anchor="ctr">
                    <a:solidFill>
                      <a:srgbClr val="F3F5F8"/>
                    </a:solidFill>
                  </a:tcPr>
                </a:tc>
                <a:tc>
                  <a:txBody>
                    <a:bodyPr wrap="square"/>
                    <a:lstStyle/>
                    <a:p>
                      <a:pPr algn="l">
                        <a:lnSpc>
                          <a:spcPct val="105000"/>
                        </a:lnSpc>
                        <a:spcBef>
                          <a:spcPts val="0"/>
                        </a:spcBef>
                        <a:spcAft>
                          <a:spcPts val="0"/>
                        </a:spcAft>
                      </a:pPr>
                      <a:r>
                        <a:rPr sz="1100" b="0">
                          <a:solidFill>
                            <a:srgbClr val="212630"/>
                          </a:solidFill>
                          <a:latin typeface="Segoe UI"/>
                        </a:rPr>
                        <a:t>Tags re-applied from the scenario</a:t>
                      </a:r>
                    </a:p>
                  </a:txBody>
                  <a:tcPr marL="118872" marR="91440" marT="45720" marB="45720" anchor="ctr">
                    <a:solidFill>
                      <a:srgbClr val="F3F5F8"/>
                    </a:solidFill>
                  </a:tcPr>
                </a:tc>
              </a:tr>
              <a:tr h="758952">
                <a:tc>
                  <a:txBody>
                    <a:bodyPr wrap="square"/>
                    <a:lstStyle/>
                    <a:p>
                      <a:pPr algn="l">
                        <a:lnSpc>
                          <a:spcPct val="105000"/>
                        </a:lnSpc>
                        <a:spcBef>
                          <a:spcPts val="0"/>
                        </a:spcBef>
                        <a:spcAft>
                          <a:spcPts val="0"/>
                        </a:spcAft>
                      </a:pPr>
                      <a:r>
                        <a:rPr sz="1100" b="0">
                          <a:solidFill>
                            <a:srgbClr val="212630"/>
                          </a:solidFill>
                          <a:latin typeface="Segoe UI"/>
                        </a:rPr>
                        <a:t>“Waited for the widget, passed”</a:t>
                      </a:r>
                    </a:p>
                  </a:txBody>
                  <a:tcPr marL="118872" marR="91440" marT="45720" marB="45720" anchor="ctr">
                    <a:solidFill>
                      <a:srgbClr val="FFFFFF"/>
                    </a:solidFill>
                  </a:tcPr>
                </a:tc>
                <a:tc>
                  <a:txBody>
                    <a:bodyPr wrap="square"/>
                    <a:lstStyle/>
                    <a:p>
                      <a:pPr algn="l">
                        <a:lnSpc>
                          <a:spcPct val="105000"/>
                        </a:lnSpc>
                        <a:spcBef>
                          <a:spcPts val="0"/>
                        </a:spcBef>
                        <a:spcAft>
                          <a:spcPts val="0"/>
                        </a:spcAft>
                      </a:pPr>
                      <a:r>
                        <a:rPr sz="1100" b="0">
                          <a:solidFill>
                            <a:srgbClr val="212630"/>
                          </a:solidFill>
                          <a:latin typeface="Segoe UI"/>
                        </a:rPr>
                        <a:t>Cloudflare never renders the Turnstile frame in an automated browser — nothing was measured, and the test could not fail.</a:t>
                      </a:r>
                    </a:p>
                  </a:txBody>
                  <a:tcPr marL="118872" marR="91440" marT="45720" marB="45720" anchor="ctr">
                    <a:solidFill>
                      <a:srgbClr val="FFFFFF"/>
                    </a:solidFill>
                  </a:tcPr>
                </a:tc>
                <a:tc>
                  <a:txBody>
                    <a:bodyPr wrap="square"/>
                    <a:lstStyle/>
                    <a:p>
                      <a:pPr algn="l">
                        <a:lnSpc>
                          <a:spcPct val="105000"/>
                        </a:lnSpc>
                        <a:spcBef>
                          <a:spcPts val="0"/>
                        </a:spcBef>
                        <a:spcAft>
                          <a:spcPts val="0"/>
                        </a:spcAft>
                      </a:pPr>
                      <a:r>
                        <a:rPr sz="1100" b="0">
                          <a:solidFill>
                            <a:srgbClr val="212630"/>
                          </a:solidFill>
                          <a:latin typeface="Segoe UI"/>
                        </a:rPr>
                        <a:t>Assert the contract, not the widget</a:t>
                      </a:r>
                    </a:p>
                  </a:txBody>
                  <a:tcPr marL="118872" marR="91440" marT="45720" marB="45720" anchor="ctr">
                    <a:solidFill>
                      <a:srgbClr val="FFFFFF"/>
                    </a:solidFill>
                  </a:tcPr>
                </a:tc>
              </a:tr>
            </a:tbl>
          </a:graphicData>
        </a:graphic>
      </p:graphicFrame>
      <p:sp>
        <p:nvSpPr>
          <p:cNvPr id="5" name="Rounded Rectangle 4"/>
          <p:cNvSpPr/>
          <p:nvPr/>
        </p:nvSpPr>
        <p:spPr>
          <a:xfrm>
            <a:off x="566928" y="5989320"/>
            <a:ext cx="11057839" cy="5486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566928" y="5989320"/>
            <a:ext cx="68580" cy="548640"/>
          </a:xfrm>
          <a:prstGeom prst="rect">
            <a:avLst/>
          </a:prstGeom>
          <a:solidFill>
            <a:srgbClr val="2EAD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822960" y="6039612"/>
            <a:ext cx="10600639" cy="448056"/>
          </a:xfrm>
          <a:prstGeom prst="rect">
            <a:avLst/>
          </a:prstGeom>
          <a:noFill/>
        </p:spPr>
        <p:txBody>
          <a:bodyPr wrap="square" anchor="ctr" lIns="0" rIns="0" tIns="0" bIns="0">
            <a:spAutoFit/>
          </a:bodyPr>
          <a:lstStyle/>
          <a:p>
            <a:pPr algn="l">
              <a:lnSpc>
                <a:spcPct val="115000"/>
              </a:lnSpc>
              <a:spcBef>
                <a:spcPts val="0"/>
              </a:spcBef>
              <a:spcAft>
                <a:spcPts val="0"/>
              </a:spcAft>
            </a:pPr>
            <a:r>
              <a:rPr sz="1350" b="1">
                <a:solidFill>
                  <a:srgbClr val="212630"/>
                </a:solidFill>
                <a:latin typeface="Segoe UI"/>
              </a:rPr>
              <a:t>So: </a:t>
            </a:r>
            <a:r>
              <a:rPr sz="1350" b="0">
                <a:solidFill>
                  <a:srgbClr val="626B7A"/>
                </a:solidFill>
                <a:latin typeface="Segoe UI"/>
              </a:rPr>
              <a:t>every gate here is a matcher over the output — not an instruction in a prompt. A prompt forbidding something is a suggestion; a matcher is enforcement.</a:t>
            </a:r>
          </a:p>
        </p:txBody>
      </p:sp>
      <p:sp>
        <p:nvSpPr>
          <p:cNvPr id="8" name="TextBox 7"/>
          <p:cNvSpPr txBox="1"/>
          <p:nvPr/>
        </p:nvSpPr>
        <p:spPr>
          <a:xfrm>
            <a:off x="566928" y="6382512"/>
            <a:ext cx="11057839" cy="274320"/>
          </a:xfrm>
          <a:prstGeom prst="rect">
            <a:avLst/>
          </a:prstGeom>
          <a:noFill/>
        </p:spPr>
        <p:txBody>
          <a:bodyPr wrap="square" anchor="t" lIns="0" rIns="0" tIns="0" bIns="0">
            <a:spAutoFit/>
          </a:bodyPr>
          <a:lstStyle/>
          <a:p>
            <a:pPr algn="l">
              <a:spcBef>
                <a:spcPts val="0"/>
              </a:spcBef>
              <a:spcAft>
                <a:spcPts val="0"/>
              </a:spcAft>
            </a:pPr>
            <a:r>
              <a:rPr sz="1050" b="0">
                <a:solidFill>
                  <a:srgbClr val="9AA2AE"/>
                </a:solidFill>
                <a:latin typeface="Segoe UI"/>
              </a:rPr>
              <a:t>Playwright × AI  ·  QA workshop</a:t>
            </a:r>
            <a:r>
              <a:rPr sz="1050" b="0">
                <a:solidFill>
                  <a:srgbClr val="9AA2AE"/>
                </a:solidFill>
                <a:latin typeface="Segoe UI"/>
              </a:rPr>
              <a:t>        8/10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58368"/>
          </a:xfrm>
          <a:prstGeom prst="rect">
            <a:avLst/>
          </a:prstGeom>
          <a:noFill/>
        </p:spPr>
        <p:txBody>
          <a:bodyPr wrap="square" anchor="t" lIns="0" rIns="0" tIns="0" bIns="0">
            <a:spAutoFit/>
          </a:bodyPr>
          <a:lstStyle/>
          <a:p>
            <a:pPr algn="l">
              <a:spcBef>
                <a:spcPts val="0"/>
              </a:spcBef>
              <a:spcAft>
                <a:spcPts val="0"/>
              </a:spcAft>
            </a:pPr>
            <a:r>
              <a:rPr sz="2900" b="0">
                <a:solidFill>
                  <a:srgbClr val="171B23"/>
                </a:solidFill>
                <a:latin typeface="Segoe UI"/>
              </a:rPr>
              <a:t>AI proposes. Code enforces.</a:t>
            </a:r>
          </a:p>
          <a:p>
            <a:pPr algn="l">
              <a:spcBef>
                <a:spcPts val="0"/>
              </a:spcBef>
              <a:spcAft>
                <a:spcPts val="0"/>
              </a:spcAft>
            </a:pPr>
            <a:r>
              <a:rPr sz="1250" b="0">
                <a:solidFill>
                  <a:srgbClr val="1E7A22"/>
                </a:solidFill>
                <a:latin typeface="Segoe UI"/>
              </a:rPr>
              <a:t>THE DIVISION OF LABOUR</a:t>
            </a:r>
          </a:p>
        </p:txBody>
      </p:sp>
      <p:sp>
        <p:nvSpPr>
          <p:cNvPr id="3" name="Rounded Rectangle 2"/>
          <p:cNvSpPr/>
          <p:nvPr/>
        </p:nvSpPr>
        <p:spPr>
          <a:xfrm>
            <a:off x="566928" y="1060704"/>
            <a:ext cx="1051560" cy="50292"/>
          </a:xfrm>
          <a:prstGeom prst="roundRect">
            <a:avLst>
              <a:gd name="adj" fmla="val 50000"/>
            </a:avLst>
          </a:prstGeom>
          <a:solidFill>
            <a:srgbClr val="2EAD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ounded Rectangle 3"/>
          <p:cNvSpPr/>
          <p:nvPr/>
        </p:nvSpPr>
        <p:spPr>
          <a:xfrm>
            <a:off x="566928" y="1645920"/>
            <a:ext cx="5277459" cy="3200400"/>
          </a:xfrm>
          <a:prstGeom prst="roundRect">
            <a:avLst>
              <a:gd name="adj" fmla="val 7000"/>
            </a:avLst>
          </a:prstGeom>
          <a:solidFill>
            <a:srgbClr val="F3F5F8"/>
          </a:solidFill>
          <a:ln w="12700">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566928" y="1645920"/>
            <a:ext cx="5277459" cy="68580"/>
          </a:xfrm>
          <a:prstGeom prst="rect">
            <a:avLst/>
          </a:prstGeom>
          <a:solidFill>
            <a:srgbClr val="2C7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41247" y="1874519"/>
            <a:ext cx="4728819" cy="2834640"/>
          </a:xfrm>
          <a:prstGeom prst="rect">
            <a:avLst/>
          </a:prstGeom>
          <a:noFill/>
        </p:spPr>
        <p:txBody>
          <a:bodyPr wrap="square" anchor="t" lIns="0" rIns="0" tIns="0" bIns="0">
            <a:spAutoFit/>
          </a:bodyPr>
          <a:lstStyle/>
          <a:p>
            <a:pPr algn="l">
              <a:spcBef>
                <a:spcPts val="0"/>
              </a:spcBef>
              <a:spcAft>
                <a:spcPts val="1100"/>
              </a:spcAft>
            </a:pPr>
            <a:r>
              <a:rPr sz="1500" b="0">
                <a:solidFill>
                  <a:srgbClr val="2C7FB8"/>
                </a:solidFill>
                <a:latin typeface="Segoe UI"/>
              </a:rPr>
              <a:t>AI's job</a:t>
            </a:r>
          </a:p>
          <a:p>
            <a:pPr marL="237744" indent="-237744">
              <a:spcAft>
                <a:spcPts val="800"/>
              </a:spcAft>
              <a:buNone/>
            </a:pPr>
            <a:r>
              <a:rPr sz="1250" b="1">
                <a:solidFill>
                  <a:srgbClr val="2C7FB8"/>
                </a:solidFill>
                <a:latin typeface="Segoe UI"/>
              </a:rPr>
              <a:t>▪   </a:t>
            </a:r>
            <a:r>
              <a:rPr sz="1250">
                <a:solidFill>
                  <a:srgbClr val="212630"/>
                </a:solidFill>
                <a:latin typeface="Segoe UI"/>
              </a:rPr>
              <a:t>Draft scenarios from the issue and the diff (stage 1)</a:t>
            </a:r>
          </a:p>
          <a:p>
            <a:pPr marL="237744" indent="-237744">
              <a:spcAft>
                <a:spcPts val="800"/>
              </a:spcAft>
              <a:buNone/>
            </a:pPr>
            <a:r>
              <a:rPr sz="1250" b="1">
                <a:solidFill>
                  <a:srgbClr val="2C7FB8"/>
                </a:solidFill>
                <a:latin typeface="Segoe UI"/>
              </a:rPr>
              <a:t>▪   </a:t>
            </a:r>
            <a:r>
              <a:rPr sz="1250">
                <a:solidFill>
                  <a:srgbClr val="212630"/>
                </a:solidFill>
                <a:latin typeface="Segoe UI"/>
              </a:rPr>
              <a:t>Write the test block from the scenario (stage 2)</a:t>
            </a:r>
          </a:p>
          <a:p>
            <a:pPr marL="237744" indent="-237744">
              <a:spcAft>
                <a:spcPts val="800"/>
              </a:spcAft>
              <a:buNone/>
            </a:pPr>
            <a:r>
              <a:rPr sz="1250" b="1">
                <a:solidFill>
                  <a:srgbClr val="2C7FB8"/>
                </a:solidFill>
                <a:latin typeface="Segoe UI"/>
              </a:rPr>
              <a:t>▪   </a:t>
            </a:r>
            <a:r>
              <a:rPr sz="1250">
                <a:solidFill>
                  <a:srgbClr val="212630"/>
                </a:solidFill>
                <a:latin typeface="Segoe UI"/>
              </a:rPr>
              <a:t>Classify coverage and buildability; propose locators and methods (3–4)</a:t>
            </a:r>
          </a:p>
          <a:p>
            <a:pPr marL="237744" indent="-237744">
              <a:spcAft>
                <a:spcPts val="800"/>
              </a:spcAft>
              <a:buNone/>
            </a:pPr>
            <a:r>
              <a:rPr sz="1250" b="1">
                <a:solidFill>
                  <a:srgbClr val="2C7FB8"/>
                </a:solidFill>
                <a:latin typeface="Segoe UI"/>
              </a:rPr>
              <a:t>▪   </a:t>
            </a:r>
            <a:r>
              <a:rPr sz="1250">
                <a:solidFill>
                  <a:srgbClr val="212630"/>
                </a:solidFill>
                <a:latin typeface="Segoe UI"/>
              </a:rPr>
              <a:t>Read a feature area by driving the real app, and write down what it learned</a:t>
            </a:r>
          </a:p>
        </p:txBody>
      </p:sp>
      <p:sp>
        <p:nvSpPr>
          <p:cNvPr id="7" name="Rounded Rectangle 6"/>
          <p:cNvSpPr/>
          <p:nvPr/>
        </p:nvSpPr>
        <p:spPr>
          <a:xfrm>
            <a:off x="6347307" y="1645920"/>
            <a:ext cx="5277459" cy="3200400"/>
          </a:xfrm>
          <a:prstGeom prst="roundRect">
            <a:avLst>
              <a:gd name="adj" fmla="val 7000"/>
            </a:avLst>
          </a:prstGeom>
          <a:solidFill>
            <a:srgbClr val="FFFFFF"/>
          </a:solidFill>
          <a:ln w="12700">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347307" y="1645920"/>
            <a:ext cx="5277459" cy="68580"/>
          </a:xfrm>
          <a:prstGeom prst="rect">
            <a:avLst/>
          </a:prstGeom>
          <a:solidFill>
            <a:srgbClr val="1E7A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21627" y="1874519"/>
            <a:ext cx="4728819" cy="2834640"/>
          </a:xfrm>
          <a:prstGeom prst="rect">
            <a:avLst/>
          </a:prstGeom>
          <a:noFill/>
        </p:spPr>
        <p:txBody>
          <a:bodyPr wrap="square" anchor="t" lIns="0" rIns="0" tIns="0" bIns="0">
            <a:spAutoFit/>
          </a:bodyPr>
          <a:lstStyle/>
          <a:p>
            <a:pPr algn="l">
              <a:spcBef>
                <a:spcPts val="0"/>
              </a:spcBef>
              <a:spcAft>
                <a:spcPts val="1100"/>
              </a:spcAft>
            </a:pPr>
            <a:r>
              <a:rPr sz="1500" b="0">
                <a:solidFill>
                  <a:srgbClr val="1E7A22"/>
                </a:solidFill>
                <a:latin typeface="Segoe UI"/>
              </a:rPr>
              <a:t>Code's job — never the prompt</a:t>
            </a:r>
          </a:p>
          <a:p>
            <a:pPr marL="237744" indent="-237744">
              <a:spcAft>
                <a:spcPts val="800"/>
              </a:spcAft>
              <a:buNone/>
            </a:pPr>
            <a:r>
              <a:rPr sz="1250" b="1">
                <a:solidFill>
                  <a:srgbClr val="1E7A22"/>
                </a:solidFill>
                <a:latin typeface="Segoe UI"/>
              </a:rPr>
              <a:t>▪   </a:t>
            </a:r>
            <a:r>
              <a:rPr sz="1250">
                <a:solidFill>
                  <a:srgbClr val="212630"/>
                </a:solidFill>
                <a:latin typeface="Segoe UI"/>
              </a:rPr>
              <a:t>The block hash decides hold / re-digest / classify: scenario text is the only lever</a:t>
            </a:r>
          </a:p>
          <a:p>
            <a:pPr marL="237744" indent="-237744">
              <a:spcAft>
                <a:spcPts val="800"/>
              </a:spcAft>
              <a:buNone/>
            </a:pPr>
            <a:r>
              <a:rPr sz="1250" b="1">
                <a:solidFill>
                  <a:srgbClr val="1E7A22"/>
                </a:solidFill>
                <a:latin typeface="Segoe UI"/>
              </a:rPr>
              <a:t>▪   </a:t>
            </a:r>
            <a:r>
              <a:rPr sz="1250">
                <a:solidFill>
                  <a:srgbClr val="212630"/>
                </a:solidFill>
                <a:latin typeface="Segoe UI"/>
              </a:rPr>
              <a:t>Tags are re-applied from the scenario on every run, not remembered</a:t>
            </a:r>
          </a:p>
          <a:p>
            <a:pPr marL="237744" indent="-237744">
              <a:spcAft>
                <a:spcPts val="800"/>
              </a:spcAft>
              <a:buNone/>
            </a:pPr>
            <a:r>
              <a:rPr sz="1250" b="1">
                <a:solidFill>
                  <a:srgbClr val="1E7A22"/>
                </a:solidFill>
                <a:latin typeface="Segoe UI"/>
              </a:rPr>
              <a:t>▪   </a:t>
            </a:r>
            <a:r>
              <a:rPr sz="1250">
                <a:solidFill>
                  <a:srgbClr val="212630"/>
                </a:solidFill>
                <a:latin typeface="Segoe UI"/>
              </a:rPr>
              <a:t>Every claimed capability is matched against the real page-object surface</a:t>
            </a:r>
          </a:p>
          <a:p>
            <a:pPr marL="237744" indent="-237744">
              <a:spcAft>
                <a:spcPts val="800"/>
              </a:spcAft>
              <a:buNone/>
            </a:pPr>
            <a:r>
              <a:rPr sz="1250" b="1">
                <a:solidFill>
                  <a:srgbClr val="1E7A22"/>
                </a:solidFill>
                <a:latin typeface="Segoe UI"/>
              </a:rPr>
              <a:t>▪   </a:t>
            </a:r>
            <a:r>
              <a:rPr sz="1250">
                <a:solidFill>
                  <a:srgbClr val="212630"/>
                </a:solidFill>
                <a:latin typeface="Segoe UI"/>
              </a:rPr>
              <a:t>Generated code stays inside the managed region; agent writes are additive-only</a:t>
            </a:r>
          </a:p>
          <a:p>
            <a:pPr marL="237744" indent="-237744">
              <a:spcAft>
                <a:spcPts val="800"/>
              </a:spcAft>
              <a:buNone/>
            </a:pPr>
            <a:r>
              <a:rPr sz="1250" b="1">
                <a:solidFill>
                  <a:srgbClr val="1E7A22"/>
                </a:solidFill>
                <a:latin typeface="Segoe UI"/>
              </a:rPr>
              <a:t>▪   </a:t>
            </a:r>
            <a:r>
              <a:rPr sz="1250">
                <a:solidFill>
                  <a:srgbClr val="212630"/>
                </a:solidFill>
                <a:latin typeface="Segoe UI"/>
              </a:rPr>
              <a:t>Degraded input fails open with a named reason; a malformed value throws</a:t>
            </a:r>
          </a:p>
        </p:txBody>
      </p:sp>
      <p:sp>
        <p:nvSpPr>
          <p:cNvPr id="10" name="Rounded Rectangle 9"/>
          <p:cNvSpPr/>
          <p:nvPr/>
        </p:nvSpPr>
        <p:spPr>
          <a:xfrm>
            <a:off x="566928" y="5029200"/>
            <a:ext cx="11057839" cy="658368"/>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566928" y="5029200"/>
            <a:ext cx="68580" cy="658368"/>
          </a:xfrm>
          <a:prstGeom prst="rect">
            <a:avLst/>
          </a:prstGeom>
          <a:solidFill>
            <a:srgbClr val="2EAD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22960" y="5079492"/>
            <a:ext cx="10600639" cy="557784"/>
          </a:xfrm>
          <a:prstGeom prst="rect">
            <a:avLst/>
          </a:prstGeom>
          <a:noFill/>
        </p:spPr>
        <p:txBody>
          <a:bodyPr wrap="square" anchor="ctr" lIns="0" rIns="0" tIns="0" bIns="0">
            <a:spAutoFit/>
          </a:bodyPr>
          <a:lstStyle/>
          <a:p>
            <a:pPr algn="l">
              <a:lnSpc>
                <a:spcPct val="115000"/>
              </a:lnSpc>
              <a:spcBef>
                <a:spcPts val="0"/>
              </a:spcBef>
              <a:spcAft>
                <a:spcPts val="0"/>
              </a:spcAft>
            </a:pPr>
            <a:r>
              <a:rPr sz="1350" b="1">
                <a:solidFill>
                  <a:srgbClr val="212630"/>
                </a:solidFill>
                <a:latin typeface="Segoe UI"/>
              </a:rPr>
              <a:t>A prompt forbidding something is a suggestion. </a:t>
            </a:r>
            <a:r>
              <a:rPr sz="1350" b="0">
                <a:solidFill>
                  <a:srgbClr val="626B7A"/>
                </a:solidFill>
                <a:latin typeface="Segoe UI"/>
              </a:rPr>
              <a:t>The rule has to hold over the output — so it is a check that runs, and a report line that names what it refused.</a:t>
            </a:r>
          </a:p>
        </p:txBody>
      </p:sp>
      <p:sp>
        <p:nvSpPr>
          <p:cNvPr id="13" name="Rounded Rectangle 12"/>
          <p:cNvSpPr/>
          <p:nvPr/>
        </p:nvSpPr>
        <p:spPr>
          <a:xfrm>
            <a:off x="566928" y="5833872"/>
            <a:ext cx="11057839" cy="64008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566928" y="5833872"/>
            <a:ext cx="68580" cy="640080"/>
          </a:xfrm>
          <a:prstGeom prst="rect">
            <a:avLst/>
          </a:prstGeom>
          <a:solidFill>
            <a:srgbClr val="2EAD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22960" y="5884164"/>
            <a:ext cx="10600639" cy="539496"/>
          </a:xfrm>
          <a:prstGeom prst="rect">
            <a:avLst/>
          </a:prstGeom>
          <a:noFill/>
        </p:spPr>
        <p:txBody>
          <a:bodyPr wrap="square" anchor="ctr" lIns="0" rIns="0" tIns="0" bIns="0">
            <a:spAutoFit/>
          </a:bodyPr>
          <a:lstStyle/>
          <a:p>
            <a:pPr algn="l">
              <a:lnSpc>
                <a:spcPct val="115000"/>
              </a:lnSpc>
              <a:spcBef>
                <a:spcPts val="0"/>
              </a:spcBef>
              <a:spcAft>
                <a:spcPts val="0"/>
              </a:spcAft>
            </a:pPr>
            <a:r>
              <a:rPr sz="1350" b="1">
                <a:solidFill>
                  <a:srgbClr val="1E7A22"/>
                </a:solidFill>
                <a:latin typeface="Segoe UI"/>
              </a:rPr>
              <a:t>60 invariants run in seconds, with no browser. </a:t>
            </a:r>
            <a:r>
              <a:rPr sz="1350" b="0">
                <a:solidFill>
                  <a:srgbClr val="626B7A"/>
                </a:solidFill>
                <a:latin typeface="Segoe UI"/>
              </a:rPr>
              <a:t>npm run self-checks — added whenever the failure would have been silent. That last clause is the whole rule.</a:t>
            </a:r>
          </a:p>
        </p:txBody>
      </p:sp>
      <p:sp>
        <p:nvSpPr>
          <p:cNvPr id="16" name="TextBox 15"/>
          <p:cNvSpPr txBox="1"/>
          <p:nvPr/>
        </p:nvSpPr>
        <p:spPr>
          <a:xfrm>
            <a:off x="566928" y="6382512"/>
            <a:ext cx="11057839" cy="274320"/>
          </a:xfrm>
          <a:prstGeom prst="rect">
            <a:avLst/>
          </a:prstGeom>
          <a:noFill/>
        </p:spPr>
        <p:txBody>
          <a:bodyPr wrap="square" anchor="t" lIns="0" rIns="0" tIns="0" bIns="0">
            <a:spAutoFit/>
          </a:bodyPr>
          <a:lstStyle/>
          <a:p>
            <a:pPr algn="l">
              <a:spcBef>
                <a:spcPts val="0"/>
              </a:spcBef>
              <a:spcAft>
                <a:spcPts val="0"/>
              </a:spcAft>
            </a:pPr>
            <a:r>
              <a:rPr sz="1050" b="0">
                <a:solidFill>
                  <a:srgbClr val="9AA2AE"/>
                </a:solidFill>
                <a:latin typeface="Segoe UI"/>
              </a:rPr>
              <a:t>Playwright × AI  ·  QA workshop</a:t>
            </a:r>
            <a:r>
              <a:rPr sz="1050" b="0">
                <a:solidFill>
                  <a:srgbClr val="9AA2AE"/>
                </a:solidFill>
                <a:latin typeface="Segoe UI"/>
              </a:rPr>
              <a:t>        9/10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58368"/>
          </a:xfrm>
          <a:prstGeom prst="rect">
            <a:avLst/>
          </a:prstGeom>
          <a:noFill/>
        </p:spPr>
        <p:txBody>
          <a:bodyPr wrap="square" anchor="t" lIns="0" rIns="0" tIns="0" bIns="0">
            <a:spAutoFit/>
          </a:bodyPr>
          <a:lstStyle/>
          <a:p>
            <a:pPr algn="l">
              <a:spcBef>
                <a:spcPts val="0"/>
              </a:spcBef>
              <a:spcAft>
                <a:spcPts val="0"/>
              </a:spcAft>
            </a:pPr>
            <a:r>
              <a:rPr sz="2900" b="0">
                <a:solidFill>
                  <a:srgbClr val="171B23"/>
                </a:solidFill>
                <a:latin typeface="Segoe UI"/>
              </a:rPr>
              <a:t>Where it stands — and running it yourself</a:t>
            </a:r>
          </a:p>
          <a:p>
            <a:pPr algn="l">
              <a:spcBef>
                <a:spcPts val="0"/>
              </a:spcBef>
              <a:spcAft>
                <a:spcPts val="0"/>
              </a:spcAft>
            </a:pPr>
            <a:r>
              <a:rPr sz="1250" b="0">
                <a:solidFill>
                  <a:srgbClr val="1E7A22"/>
                </a:solidFill>
                <a:latin typeface="Segoe UI"/>
              </a:rPr>
              <a:t>CURRENT STATE  ·  HANDS-ON</a:t>
            </a:r>
          </a:p>
        </p:txBody>
      </p:sp>
      <p:sp>
        <p:nvSpPr>
          <p:cNvPr id="3" name="Rounded Rectangle 2"/>
          <p:cNvSpPr/>
          <p:nvPr/>
        </p:nvSpPr>
        <p:spPr>
          <a:xfrm>
            <a:off x="566928" y="1060704"/>
            <a:ext cx="1051560" cy="50292"/>
          </a:xfrm>
          <a:prstGeom prst="roundRect">
            <a:avLst>
              <a:gd name="adj" fmla="val 50000"/>
            </a:avLst>
          </a:prstGeom>
          <a:solidFill>
            <a:srgbClr val="2EAD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ounded Rectangle 3"/>
          <p:cNvSpPr/>
          <p:nvPr/>
        </p:nvSpPr>
        <p:spPr>
          <a:xfrm>
            <a:off x="566928" y="1645920"/>
            <a:ext cx="5277459" cy="3108960"/>
          </a:xfrm>
          <a:prstGeom prst="roundRect">
            <a:avLst>
              <a:gd name="adj" fmla="val 7000"/>
            </a:avLst>
          </a:prstGeom>
          <a:solidFill>
            <a:srgbClr val="FFFFFF"/>
          </a:solidFill>
          <a:ln w="12700">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841247" y="1847088"/>
            <a:ext cx="4728819" cy="2743200"/>
          </a:xfrm>
          <a:prstGeom prst="rect">
            <a:avLst/>
          </a:prstGeom>
          <a:noFill/>
        </p:spPr>
        <p:txBody>
          <a:bodyPr wrap="square" anchor="t" lIns="0" rIns="0" tIns="0" bIns="0">
            <a:spAutoFit/>
          </a:bodyPr>
          <a:lstStyle/>
          <a:p>
            <a:pPr algn="l">
              <a:spcBef>
                <a:spcPts val="0"/>
              </a:spcBef>
              <a:spcAft>
                <a:spcPts val="1000"/>
              </a:spcAft>
            </a:pPr>
            <a:r>
              <a:rPr sz="1450" b="0">
                <a:solidFill>
                  <a:srgbClr val="1E7A22"/>
                </a:solidFill>
                <a:latin typeface="Segoe UI"/>
              </a:rPr>
              <a:t>As of today, in this repo</a:t>
            </a:r>
          </a:p>
          <a:p>
            <a:pPr marL="274320" indent="-274320">
              <a:spcBef>
                <a:spcPts val="0"/>
              </a:spcBef>
              <a:spcAft>
                <a:spcPts val="800"/>
              </a:spcAft>
              <a:buNone/>
            </a:pPr>
            <a:r>
              <a:rPr sz="1250" b="1">
                <a:solidFill>
                  <a:srgbClr val="2EAD33"/>
                </a:solidFill>
                <a:latin typeface="Segoe UI"/>
              </a:rPr>
              <a:t>▪   </a:t>
            </a:r>
            <a:r>
              <a:rPr sz="1250" b="1">
                <a:solidFill>
                  <a:srgbClr val="212630"/>
                </a:solidFill>
                <a:latin typeface="Segoe UI"/>
              </a:rPr>
              <a:t>1 domain</a:t>
            </a:r>
            <a:r>
              <a:rPr sz="1250">
                <a:solidFill>
                  <a:srgbClr val="212630"/>
                </a:solidFill>
                <a:latin typeface="Segoe UI"/>
              </a:rPr>
              <a:t> (landing-page) · 12 scenarios · 60 self-check invariants.</a:t>
            </a:r>
          </a:p>
          <a:p>
            <a:pPr marL="274320" indent="-274320">
              <a:spcBef>
                <a:spcPts val="0"/>
              </a:spcBef>
              <a:spcAft>
                <a:spcPts val="800"/>
              </a:spcAft>
              <a:buNone/>
            </a:pPr>
            <a:r>
              <a:rPr sz="1250" b="1">
                <a:solidFill>
                  <a:srgbClr val="2EAD33"/>
                </a:solidFill>
                <a:latin typeface="Segoe UI"/>
              </a:rPr>
              <a:t>▪   </a:t>
            </a:r>
            <a:r>
              <a:rPr sz="1250" b="1">
                <a:solidFill>
                  <a:srgbClr val="212630"/>
                </a:solidFill>
                <a:latin typeface="Segoe UI"/>
              </a:rPr>
              <a:t>Last digest: 12 scenarios → 1 generated, 11 kept </a:t>
            </a:r>
            <a:r>
              <a:rPr sz="1250">
                <a:solidFill>
                  <a:srgbClr val="212630"/>
                </a:solidFill>
                <a:latin typeface="Segoe UI"/>
              </a:rPr>
              <a:t>in 2.6s.</a:t>
            </a:r>
          </a:p>
          <a:p>
            <a:pPr marL="274320" indent="-274320">
              <a:spcBef>
                <a:spcPts val="0"/>
              </a:spcBef>
              <a:spcAft>
                <a:spcPts val="800"/>
              </a:spcAft>
              <a:buNone/>
            </a:pPr>
            <a:r>
              <a:rPr sz="1250" b="1">
                <a:solidFill>
                  <a:srgbClr val="2EAD33"/>
                </a:solidFill>
                <a:latin typeface="Segoe UI"/>
              </a:rPr>
              <a:t>▪   </a:t>
            </a:r>
            <a:r>
              <a:rPr sz="1250" b="1">
                <a:solidFill>
                  <a:srgbClr val="212630"/>
                </a:solidFill>
                <a:latin typeface="Segoe UI"/>
              </a:rPr>
              <a:t>Suite: 11 passed · 1 failed — </a:t>
            </a:r>
            <a:r>
              <a:rPr sz="1250">
                <a:solidFill>
                  <a:srgbClr val="212630"/>
                </a:solidFill>
                <a:latin typeface="Segoe UI"/>
              </a:rPr>
              <a:t>and the failure is a defect it found: the Turnstile slot is 276px against the 300px widget it declares.</a:t>
            </a:r>
          </a:p>
          <a:p>
            <a:pPr marL="274320" indent="-274320">
              <a:spcBef>
                <a:spcPts val="0"/>
              </a:spcBef>
              <a:spcAft>
                <a:spcPts val="800"/>
              </a:spcAft>
              <a:buNone/>
            </a:pPr>
            <a:r>
              <a:rPr sz="1250" b="1">
                <a:solidFill>
                  <a:srgbClr val="2EAD33"/>
                </a:solidFill>
                <a:latin typeface="Segoe UI"/>
              </a:rPr>
              <a:t>▪   </a:t>
            </a:r>
            <a:r>
              <a:rPr sz="1250" b="1">
                <a:solidFill>
                  <a:srgbClr val="212630"/>
                </a:solidFill>
                <a:latin typeface="Segoe UI"/>
              </a:rPr>
              <a:t>DEBUG=true</a:t>
            </a:r>
            <a:r>
              <a:rPr sz="1250">
                <a:solidFill>
                  <a:srgbClr val="212630"/>
                </a:solidFill>
                <a:latin typeface="Segoe UI"/>
              </a:rPr>
              <a:t> narrates a run, AI calls as request/response, long content truncated with an ellipsis.</a:t>
            </a:r>
          </a:p>
        </p:txBody>
      </p:sp>
      <p:sp>
        <p:nvSpPr>
          <p:cNvPr id="6" name="Rounded Rectangle 5"/>
          <p:cNvSpPr/>
          <p:nvPr/>
        </p:nvSpPr>
        <p:spPr>
          <a:xfrm>
            <a:off x="6347307" y="1645920"/>
            <a:ext cx="5277459" cy="3108960"/>
          </a:xfrm>
          <a:prstGeom prst="roundRect">
            <a:avLst>
              <a:gd name="adj" fmla="val 7000"/>
            </a:avLst>
          </a:prstGeom>
          <a:solidFill>
            <a:srgbClr val="1E232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621627" y="1874519"/>
            <a:ext cx="4728819" cy="2651760"/>
          </a:xfrm>
          <a:prstGeom prst="rect">
            <a:avLst/>
          </a:prstGeom>
          <a:noFill/>
        </p:spPr>
        <p:txBody>
          <a:bodyPr wrap="square" anchor="t" lIns="0" rIns="0" tIns="0" bIns="0">
            <a:spAutoFit/>
          </a:bodyPr>
          <a:lstStyle/>
          <a:p>
            <a:pPr algn="l">
              <a:spcBef>
                <a:spcPts val="0"/>
              </a:spcBef>
              <a:spcAft>
                <a:spcPts val="1200"/>
              </a:spcAft>
            </a:pPr>
            <a:r>
              <a:rPr sz="1400" b="0">
                <a:solidFill>
                  <a:srgbClr val="FFFFFF"/>
                </a:solidFill>
                <a:latin typeface="Segoe UI"/>
              </a:rPr>
              <a:t>Try it — the whole loop</a:t>
            </a:r>
          </a:p>
          <a:p>
            <a:pPr algn="l">
              <a:spcBef>
                <a:spcPts val="0"/>
              </a:spcBef>
              <a:spcAft>
                <a:spcPts val="500"/>
              </a:spcAft>
            </a:pPr>
            <a:r>
              <a:rPr sz="1150" b="0">
                <a:solidFill>
                  <a:srgbClr val="E7EAF0"/>
                </a:solidFill>
                <a:latin typeface="Segoe UI"/>
              </a:rPr>
              <a:t>npm ci</a:t>
            </a:r>
          </a:p>
          <a:p>
            <a:pPr algn="l">
              <a:spcBef>
                <a:spcPts val="0"/>
              </a:spcBef>
              <a:spcAft>
                <a:spcPts val="500"/>
              </a:spcAft>
            </a:pPr>
            <a:r>
              <a:rPr sz="1150" b="0">
                <a:solidFill>
                  <a:srgbClr val="E7EAF0"/>
                </a:solidFill>
                <a:latin typeface="Segoe UI"/>
              </a:rPr>
              <a:t>cp .env.example .env     # BASE_URL, MODEL_API_KEY</a:t>
            </a:r>
          </a:p>
          <a:p>
            <a:pPr algn="l">
              <a:spcBef>
                <a:spcPts val="0"/>
              </a:spcBef>
              <a:spcAft>
                <a:spcPts val="500"/>
              </a:spcAft>
            </a:pPr>
            <a:r>
              <a:rPr sz="1150" b="0">
                <a:solidFill>
                  <a:srgbClr val="E7EAF0"/>
                </a:solidFill>
                <a:latin typeface="Segoe UI"/>
              </a:rPr>
              <a:t>npm run self-checks      # cheap gates, no browser</a:t>
            </a:r>
          </a:p>
          <a:p>
            <a:pPr algn="l">
              <a:spcBef>
                <a:spcPts val="0"/>
              </a:spcBef>
              <a:spcAft>
                <a:spcPts val="500"/>
              </a:spcAft>
            </a:pPr>
            <a:r>
              <a:rPr sz="1150" b="0">
                <a:solidFill>
                  <a:srgbClr val="E7EAF0"/>
                </a:solidFill>
                <a:latin typeface="Segoe UI"/>
              </a:rPr>
              <a:t>npm test                 # the whole suite</a:t>
            </a:r>
          </a:p>
          <a:p>
            <a:pPr algn="l">
              <a:spcBef>
                <a:spcPts val="0"/>
              </a:spcBef>
              <a:spcAft>
                <a:spcPts val="500"/>
              </a:spcAft>
            </a:pPr>
            <a:r>
              <a:rPr sz="1150" b="0">
                <a:solidFill>
                  <a:srgbClr val="E7EAF0"/>
                </a:solidFill>
                <a:latin typeface="Segoe UI"/>
              </a:rPr>
              <a:t>npm run pipeline -- --pr 123</a:t>
            </a:r>
          </a:p>
          <a:p>
            <a:pPr algn="l">
              <a:spcBef>
                <a:spcPts val="0"/>
              </a:spcBef>
              <a:spcAft>
                <a:spcPts val="500"/>
              </a:spcAft>
            </a:pPr>
            <a:r>
              <a:rPr sz="1150" b="0">
                <a:solidFill>
                  <a:srgbClr val="E7EAF0"/>
                </a:solidFill>
                <a:latin typeface="Segoe UI"/>
              </a:rPr>
              <a:t>npm run stage:2          # re-run ONE stage</a:t>
            </a:r>
          </a:p>
        </p:txBody>
      </p:sp>
      <p:sp>
        <p:nvSpPr>
          <p:cNvPr id="8" name="Rounded Rectangle 7"/>
          <p:cNvSpPr/>
          <p:nvPr/>
        </p:nvSpPr>
        <p:spPr>
          <a:xfrm>
            <a:off x="566928" y="4956048"/>
            <a:ext cx="11057839" cy="676656"/>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566928" y="4956048"/>
            <a:ext cx="68580" cy="676656"/>
          </a:xfrm>
          <a:prstGeom prst="rect">
            <a:avLst/>
          </a:prstGeom>
          <a:solidFill>
            <a:srgbClr val="2EAD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22960" y="5006340"/>
            <a:ext cx="10600639" cy="576072"/>
          </a:xfrm>
          <a:prstGeom prst="rect">
            <a:avLst/>
          </a:prstGeom>
          <a:noFill/>
        </p:spPr>
        <p:txBody>
          <a:bodyPr wrap="square" anchor="ctr" lIns="0" rIns="0" tIns="0" bIns="0">
            <a:spAutoFit/>
          </a:bodyPr>
          <a:lstStyle/>
          <a:p>
            <a:pPr algn="l">
              <a:lnSpc>
                <a:spcPct val="115000"/>
              </a:lnSpc>
              <a:spcBef>
                <a:spcPts val="0"/>
              </a:spcBef>
              <a:spcAft>
                <a:spcPts val="0"/>
              </a:spcAft>
            </a:pPr>
            <a:r>
              <a:rPr sz="1350" b="1">
                <a:solidFill>
                  <a:srgbClr val="1E7A22"/>
                </a:solidFill>
                <a:latin typeface="Segoe UI"/>
              </a:rPr>
              <a:t>Hands-on, next 60 minutes: </a:t>
            </a:r>
            <a:r>
              <a:rPr sz="1350" b="0">
                <a:solidFill>
                  <a:srgbClr val="626B7A"/>
                </a:solidFill>
                <a:latin typeface="Segoe UI"/>
              </a:rPr>
              <a:t>read a scenario → run stage 2 and watch the test appear → break a locator and watch the healer repair it → then watch it refuse to repair a bad one.</a:t>
            </a:r>
          </a:p>
        </p:txBody>
      </p:sp>
      <p:sp>
        <p:nvSpPr>
          <p:cNvPr id="11" name="Rounded Rectangle 10"/>
          <p:cNvSpPr/>
          <p:nvPr/>
        </p:nvSpPr>
        <p:spPr>
          <a:xfrm>
            <a:off x="566928" y="5742432"/>
            <a:ext cx="11057839" cy="62179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566928" y="5742432"/>
            <a:ext cx="68580" cy="621792"/>
          </a:xfrm>
          <a:prstGeom prst="rect">
            <a:avLst/>
          </a:prstGeom>
          <a:solidFill>
            <a:srgbClr val="9AA2A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22960" y="5792724"/>
            <a:ext cx="10600639" cy="521208"/>
          </a:xfrm>
          <a:prstGeom prst="rect">
            <a:avLst/>
          </a:prstGeom>
          <a:noFill/>
        </p:spPr>
        <p:txBody>
          <a:bodyPr wrap="square" anchor="ctr" lIns="0" rIns="0" tIns="0" bIns="0">
            <a:spAutoFit/>
          </a:bodyPr>
          <a:lstStyle/>
          <a:p>
            <a:pPr algn="l">
              <a:lnSpc>
                <a:spcPct val="115000"/>
              </a:lnSpc>
              <a:spcBef>
                <a:spcPts val="0"/>
              </a:spcBef>
              <a:spcAft>
                <a:spcPts val="0"/>
              </a:spcAft>
            </a:pPr>
            <a:r>
              <a:rPr sz="1350" b="1">
                <a:solidFill>
                  <a:srgbClr val="212630"/>
                </a:solidFill>
                <a:latin typeface="Segoe UI"/>
              </a:rPr>
              <a:t>Questions, and the three files worth reading first: </a:t>
            </a:r>
            <a:r>
              <a:rPr sz="1350" b="0">
                <a:solidFill>
                  <a:srgbClr val="1E7A22"/>
                </a:solidFill>
                <a:latin typeface="Segoe UI"/>
              </a:rPr>
              <a:t>README.md</a:t>
            </a:r>
            <a:r>
              <a:rPr sz="1350" b="0">
                <a:solidFill>
                  <a:srgbClr val="626B7A"/>
                </a:solidFill>
                <a:latin typeface="Segoe UI"/>
              </a:rPr>
              <a:t> (how to run it), </a:t>
            </a:r>
            <a:r>
              <a:rPr sz="1350" b="0">
                <a:solidFill>
                  <a:srgbClr val="1E7A22"/>
                </a:solidFill>
                <a:latin typeface="Segoe UI"/>
              </a:rPr>
              <a:t>WORKFLOW.md</a:t>
            </a:r>
            <a:r>
              <a:rPr sz="1350" b="0">
                <a:solidFill>
                  <a:srgbClr val="626B7A"/>
                </a:solidFill>
                <a:latin typeface="Segoe UI"/>
              </a:rPr>
              <a:t> (the workflow as diagrams) and </a:t>
            </a:r>
            <a:r>
              <a:rPr sz="1350" b="0">
                <a:solidFill>
                  <a:srgbClr val="1E7A22"/>
                </a:solidFill>
                <a:latin typeface="Segoe UI"/>
              </a:rPr>
              <a:t>pipeline-pattern.md</a:t>
            </a:r>
            <a:r>
              <a:rPr sz="1350" b="0">
                <a:solidFill>
                  <a:srgbClr val="626B7A"/>
                </a:solidFill>
                <a:latin typeface="Segoe UI"/>
              </a:rPr>
              <a:t> (why every gate is where it is).</a:t>
            </a:r>
          </a:p>
        </p:txBody>
      </p:sp>
      <p:sp>
        <p:nvSpPr>
          <p:cNvPr id="14" name="TextBox 13"/>
          <p:cNvSpPr txBox="1"/>
          <p:nvPr/>
        </p:nvSpPr>
        <p:spPr>
          <a:xfrm>
            <a:off x="566928" y="6382512"/>
            <a:ext cx="11057839" cy="274320"/>
          </a:xfrm>
          <a:prstGeom prst="rect">
            <a:avLst/>
          </a:prstGeom>
          <a:noFill/>
        </p:spPr>
        <p:txBody>
          <a:bodyPr wrap="square" anchor="t" lIns="0" rIns="0" tIns="0" bIns="0">
            <a:spAutoFit/>
          </a:bodyPr>
          <a:lstStyle/>
          <a:p>
            <a:pPr algn="l">
              <a:spcBef>
                <a:spcPts val="0"/>
              </a:spcBef>
              <a:spcAft>
                <a:spcPts val="0"/>
              </a:spcAft>
            </a:pPr>
            <a:r>
              <a:rPr sz="1050" b="0">
                <a:solidFill>
                  <a:srgbClr val="9AA2AE"/>
                </a:solidFill>
                <a:latin typeface="Segoe UI"/>
              </a:rPr>
              <a:t>Playwright × AI  ·  QA workshop</a:t>
            </a:r>
            <a:r>
              <a:rPr sz="1050" b="0">
                <a:solidFill>
                  <a:srgbClr val="9AA2AE"/>
                </a:solidFill>
                <a:latin typeface="Segoe UI"/>
              </a:rPr>
              <a:t>        10/10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