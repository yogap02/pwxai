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+ agenda, 2 minutes. Set the expectation that shapes the whole session: everything here is built around the question 'would this failure be visible?'. The AI is the part that is easy; the gates are the part that was hard. We will not cover how to write Playwright tests - we assume the room already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for their own version of each of these four - 30 seconds each, this is the slide that buys the rest of the session. The last line is the thesis of the whole deck: AI writing a test is not the bottleneck, trusting it is. Everything after this is machinery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20 seconds per card. Three things to land. (1) What passes between phases is files on disk - a scenario file, a page object, a manifest - not chat history, which is what makes one stage re-runnable on its own. (2) Stage 9 is a real stage: the run reports itself to a chat, because the person who needs to know is usually not watching the Actions tab. (3) A human reviews the PR; nothing merges itself. Same diagram as WORKFLOW.md, where it is Mermaid source with the four decision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idea: the scenario file is the source of truth and the only lever. A generated block's hash is taken from its scenario's text, so changing a test means changing the scenario and re-running stage 2. Hand-editing the spec is overwritten on the next digest - that is a feature, it is what makes the generated half reviewable. If someone asks 'so who wrote this line?' the answer is: outside the managed region, a human. The four verdicts are the words the run summary uses, so the slide and the report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rule that surprises people. No expect() in a spec, ever - it is checked by a self-check that fails the build. The reason is not style: the page object is the capability index, and the classifier asks 'can the page objects express this scenario?'. An assertion hand-rolled in a spec is invisible to that question, so the scenario looks satisfied while the capability is still missing. Assertions in the POM turn a missing capability into a visible build order. Two later fixes belong here: a blocked scenario must NAME what to add (an empty list was a dead end), and private members are not capabilities - advertising one made the model call something a spec legally cannot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dangerous failure mode here is not red, it is a smaller green run. Four defences: tags written by the machinery from the scenario file, a planner agent that only proposes a scope while the code turns it into the filter, selection by tag rather than by title, and the planner failing open with an enforced floor. And one deliberate exception: a human can override the whole thing with TEST_GREP, which skips the agent and steps around the floor - because the human is the merge gate - but the report then says the run was overridden and names anything it left out. If you take one habit away: when a run is green, ask what it did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halves and the second one is the point. Healing a stale locator is mechanical - there is no model in that path, deliberately: a guessed locator that is wrong does not fail, it asserts against the wrong element and passes. And the healer refuses loudly, because repairing 'the feature is gone' turns a real regression into a green lie. Best story in the deck: the locale guard. /id says 'Portofolio', 0.90 similar to the English 'Portfolio' - without the guard one run against /id would have rewritten the English copy and broken /en.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intellectual core of the session - spend the most time here. Every row is a real thing that happened in this repository, and every one of them was green. Ask the room: 'how would you have caught this?' then point at the third column: a gate in code, not a rule in a prompt. The last row is the one that cannot be fixed by better assertions - the page itself does not render, so ask what the contract is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one-slide summary of the division of labour. If the room remembers one thing from the workshop, make it this table: the left column is where AI adds value, the right column is why you can trust the left. Nothing in the right column is a sentence we asked the model to follow - each is code that runs whether the model cooperates or not. The two-statuses callout is the same idea in the report: a failed test and a broken pipeline are different problems, and one verdict for both sends someone to fix the wrong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honest state, including the failing test - it is the best evidence the thing works, because the failure is a real defect the suite found and a person had already reported. Then the hands-on plan: read a scenario, watch stage 2 write the test, break a locator, watch stage 7 heal it and decline a bad one. That loop is the whole system in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99605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Playwright</a:t>
            </a:r>
            <a:r>
              <a:rPr sz="5400" b="0">
                <a:solidFill>
                  <a:srgbClr val="43B7DC"/>
                </a:solidFill>
                <a:latin typeface="Segoe UI"/>
              </a:rPr>
              <a:t>  ×  </a:t>
            </a:r>
            <a:r>
              <a:rPr sz="5400" b="1">
                <a:solidFill>
                  <a:srgbClr val="FFFFFF"/>
                </a:solidFill>
                <a:latin typeface="Segoe UI"/>
              </a:rPr>
              <a:t>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7CED8"/>
                </a:solidFill>
                <a:latin typeface="Segoe UI"/>
              </a:rPr>
              <a:t>How an AI test pipeline writes tests you can still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611880"/>
            <a:ext cx="1371600" cy="54864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950208"/>
            <a:ext cx="95947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E7EAF0"/>
                </a:solidFill>
                <a:latin typeface="Segoe UI"/>
              </a:rPr>
              <a:t>QA workshop</a:t>
            </a:r>
            <a:r>
              <a:rPr sz="1500" b="0">
                <a:solidFill>
                  <a:srgbClr val="9AA2AE"/>
                </a:solidFill>
                <a:latin typeface="Segoe UI"/>
              </a:rPr>
              <a:t>  ·  an introduction to the mechanism  ·  2 hours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AA2AE"/>
                </a:solidFill>
                <a:latin typeface="Segoe UI"/>
              </a:rPr>
              <a:t>9 stages · a deployment in, a reviewed PR out · AI proposes, code enforces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72200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The pipeline described here is the boilerplate in this repository — a pattern, not a library.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Start with the pain you already have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WHY THIS EXISTS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105783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10896" indent="-310896">
              <a:spcBef>
                <a:spcPts val="0"/>
              </a:spcBef>
              <a:spcAft>
                <a:spcPts val="2600"/>
              </a:spcAft>
              <a:buNone/>
            </a:pPr>
            <a:r>
              <a:rPr sz="23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2300" b="1">
                <a:solidFill>
                  <a:srgbClr val="1C7896"/>
                </a:solidFill>
                <a:latin typeface="Segoe UI"/>
              </a:rPr>
              <a:t>Tests drift.</a:t>
            </a:r>
            <a:r>
              <a:rPr sz="2300">
                <a:solidFill>
                  <a:srgbClr val="212630"/>
                </a:solidFill>
                <a:latin typeface="Segoe UI"/>
              </a:rPr>
              <a:t> The app moves, the locator doesn't.</a:t>
            </a:r>
          </a:p>
          <a:p>
            <a:pPr marL="310896" indent="-310896">
              <a:spcBef>
                <a:spcPts val="0"/>
              </a:spcBef>
              <a:spcAft>
                <a:spcPts val="2600"/>
              </a:spcAft>
              <a:buNone/>
            </a:pPr>
            <a:r>
              <a:rPr sz="23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2300" b="1">
                <a:solidFill>
                  <a:srgbClr val="1C7896"/>
                </a:solidFill>
                <a:latin typeface="Segoe UI"/>
              </a:rPr>
              <a:t>Coverage is invisible.</a:t>
            </a:r>
            <a:r>
              <a:rPr sz="2300">
                <a:solidFill>
                  <a:srgbClr val="212630"/>
                </a:solidFill>
                <a:latin typeface="Segoe UI"/>
              </a:rPr>
              <a:t> Which of these 40 tests still asserts anything?</a:t>
            </a:r>
          </a:p>
          <a:p>
            <a:pPr marL="310896" indent="-310896">
              <a:spcBef>
                <a:spcPts val="0"/>
              </a:spcBef>
              <a:spcAft>
                <a:spcPts val="2600"/>
              </a:spcAft>
              <a:buNone/>
            </a:pPr>
            <a:r>
              <a:rPr sz="23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2300" b="1">
                <a:solidFill>
                  <a:srgbClr val="1C7896"/>
                </a:solidFill>
                <a:latin typeface="Segoe UI"/>
              </a:rPr>
              <a:t>Good tests are slow.</a:t>
            </a:r>
            <a:r>
              <a:rPr sz="2300">
                <a:solidFill>
                  <a:srgbClr val="212630"/>
                </a:solidFill>
                <a:latin typeface="Segoe UI"/>
              </a:rPr>
              <a:t> The judgement doesn't scale with headcount.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2300" b="1">
                <a:solidFill>
                  <a:srgbClr val="1C7896"/>
                </a:solidFill>
                <a:latin typeface="Segoe UI"/>
              </a:rPr>
              <a:t>AI writes tests already.</a:t>
            </a:r>
            <a:r>
              <a:rPr sz="2300">
                <a:solidFill>
                  <a:srgbClr val="212630"/>
                </a:solidFill>
                <a:latin typeface="Segoe UI"/>
              </a:rPr>
              <a:t> Trusting them is the hard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98348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983480"/>
            <a:ext cx="64008" cy="731520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29200"/>
            <a:ext cx="106372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7896"/>
                </a:solidFill>
                <a:latin typeface="Segoe UI"/>
              </a:rPr>
              <a:t>AI proposes. </a:t>
            </a:r>
            <a:r>
              <a:rPr sz="1800" b="1">
                <a:solidFill>
                  <a:srgbClr val="212630"/>
                </a:solidFill>
                <a:latin typeface="Segoe UI"/>
              </a:rPr>
              <a:t>Code enforces. </a:t>
            </a:r>
            <a:r>
              <a:rPr sz="1800" b="0">
                <a:solidFill>
                  <a:srgbClr val="626B7A"/>
                </a:solidFill>
                <a:latin typeface="Segoe UI"/>
              </a:rPr>
              <a:t>Everything after this slide is machinery for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Nine stages: a deployment in, a reviewed PR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THE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26B7A"/>
                </a:solidFill>
                <a:latin typeface="Segoe UI"/>
              </a:rPr>
              <a:t>Input: </a:t>
            </a:r>
            <a:r>
              <a:rPr sz="1350" b="0">
                <a:solidFill>
                  <a:srgbClr val="212630"/>
                </a:solidFill>
                <a:latin typeface="Segoe UI"/>
              </a:rPr>
              <a:t>a deployed change + its PR diff</a:t>
            </a:r>
            <a:r>
              <a:rPr sz="1350" b="0">
                <a:solidFill>
                  <a:srgbClr val="9AA2AE"/>
                </a:solidFill>
                <a:latin typeface="Segoe UI"/>
              </a:rPr>
              <a:t>      →      </a:t>
            </a:r>
            <a:r>
              <a:rPr sz="1350" b="1">
                <a:solidFill>
                  <a:srgbClr val="626B7A"/>
                </a:solidFill>
                <a:latin typeface="Segoe UI"/>
              </a:rPr>
              <a:t>Output: </a:t>
            </a:r>
            <a:r>
              <a:rPr sz="1350" b="0">
                <a:solidFill>
                  <a:srgbClr val="212630"/>
                </a:solidFill>
                <a:latin typeface="Segoe UI"/>
              </a:rPr>
              <a:t>tests, a PR, a report</a:t>
            </a:r>
            <a:r>
              <a:rPr sz="1350" b="0">
                <a:solidFill>
                  <a:srgbClr val="626B7A"/>
                </a:solidFill>
                <a:latin typeface="Segoe UI"/>
              </a:rPr>
              <a:t>   — a human reviews the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48716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2487168" cy="68580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39112"/>
            <a:ext cx="2084832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C7896"/>
                </a:solidFill>
                <a:latin typeface="Segoe UI"/>
              </a:rPr>
              <a:t>PHASE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71B23"/>
                </a:solidFill>
                <a:latin typeface="Segoe UI"/>
              </a:rPr>
              <a:t>Decide what to cover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1  gap-analysis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2  testcase-digest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26B7A"/>
                </a:solidFill>
                <a:latin typeface="Segoe UI"/>
              </a:rPr>
              <a:t>diff → risk areas → scenarios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5244" y="2784348"/>
            <a:ext cx="237744" cy="237744"/>
          </a:xfrm>
          <a:prstGeom prst="rightArrow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74136" y="1783080"/>
            <a:ext cx="248716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783080"/>
            <a:ext cx="2487168" cy="68580"/>
          </a:xfrm>
          <a:prstGeom prst="rect">
            <a:avLst/>
          </a:prstGeom>
          <a:solidFill>
            <a:srgbClr val="3A5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2039112"/>
            <a:ext cx="2084832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3A539E"/>
                </a:solidFill>
                <a:latin typeface="Segoe UI"/>
              </a:rPr>
              <a:t>PHASE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71B23"/>
                </a:solidFill>
                <a:latin typeface="Segoe UI"/>
              </a:rPr>
              <a:t>Build the vocabulary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3  pom-builder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4  digest-retry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26B7A"/>
                </a:solidFill>
                <a:latin typeface="Segoe UI"/>
              </a:rPr>
              <a:t>drive the live app, write page objects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02452" y="2784348"/>
            <a:ext cx="237744" cy="237744"/>
          </a:xfrm>
          <a:prstGeom prst="rightArrow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783080"/>
            <a:ext cx="248716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83080"/>
            <a:ext cx="2487168" cy="68580"/>
          </a:xfrm>
          <a:prstGeom prst="rect">
            <a:avLst/>
          </a:prstGeom>
          <a:solidFill>
            <a:srgbClr val="7A5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039112"/>
            <a:ext cx="2084832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A54B8"/>
                </a:solidFill>
                <a:latin typeface="Segoe UI"/>
              </a:rPr>
              <a:t>PHASE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71B23"/>
                </a:solidFill>
                <a:latin typeface="Segoe UI"/>
              </a:rPr>
              <a:t>Run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5  test-plan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6  playwright-test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26B7A"/>
                </a:solidFill>
                <a:latin typeface="Segoe UI"/>
              </a:rPr>
              <a:t>an agent picks a scope, then run by tag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09660" y="2784348"/>
            <a:ext cx="237744" cy="237744"/>
          </a:xfrm>
          <a:prstGeom prst="rightArrow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88552" y="1783080"/>
            <a:ext cx="248716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88552" y="1783080"/>
            <a:ext cx="2487168" cy="68580"/>
          </a:xfrm>
          <a:prstGeom prst="rect">
            <a:avLst/>
          </a:prstGeom>
          <a:solidFill>
            <a:srgbClr val="A4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39112"/>
            <a:ext cx="2084832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45716"/>
                </a:solidFill>
                <a:latin typeface="Segoe UI"/>
              </a:rPr>
              <a:t>PHASE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71B23"/>
                </a:solidFill>
                <a:latin typeface="Segoe UI"/>
              </a:rPr>
              <a:t>Repair, ship, report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7  heal-apply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8  git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630"/>
                </a:solidFill>
                <a:latin typeface="Segoe UI"/>
              </a:rPr>
              <a:t>9  notify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26B7A"/>
                </a:solidFill>
                <a:latin typeface="Segoe UI"/>
              </a:rPr>
              <a:t>fold in verified repairs, open a PR, tell the 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24528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224528"/>
            <a:ext cx="64008" cy="621792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70248"/>
            <a:ext cx="10637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2630"/>
                </a:solidFill>
                <a:latin typeface="Segoe UI"/>
              </a:rPr>
              <a:t>Fatal vs recorded. </a:t>
            </a:r>
            <a:r>
              <a:rPr sz="1500" b="0">
                <a:solidFill>
                  <a:srgbClr val="626B7A"/>
                </a:solidFill>
                <a:latin typeface="Segoe UI"/>
              </a:rPr>
              <a:t>1–2 decide what to cover, so they stop the run. 3–9 record the failure and carry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74336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974336"/>
            <a:ext cx="64008" cy="621792"/>
          </a:xfrm>
          <a:prstGeom prst="rect">
            <a:avLst/>
          </a:prstGeom>
          <a:solidFill>
            <a:srgbClr val="9AA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20056"/>
            <a:ext cx="10637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2630"/>
                </a:solidFill>
                <a:latin typeface="Segoe UI"/>
              </a:rPr>
              <a:t>A run that dies still reports. </a:t>
            </a:r>
            <a:r>
              <a:rPr sz="1500" b="0">
                <a:solidFill>
                  <a:srgbClr val="626B7A"/>
                </a:solidFill>
                <a:latin typeface="Segoe UI"/>
              </a:rPr>
              <a:t>The abort sends its own message: what did not happen, and the tail of the stage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724144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64008" cy="621792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769864"/>
            <a:ext cx="10637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7896"/>
                </a:solidFill>
                <a:latin typeface="Segoe UI"/>
              </a:rPr>
              <a:t>One stage at a time. </a:t>
            </a:r>
            <a:r>
              <a:rPr sz="1500" b="0">
                <a:solidFill>
                  <a:srgbClr val="212630"/>
                </a:solidFill>
                <a:latin typeface="Segoe UI"/>
              </a:rPr>
              <a:t>npm run stage:2</a:t>
            </a:r>
            <a:r>
              <a:rPr sz="1500" b="0">
                <a:solidFill>
                  <a:srgbClr val="626B7A"/>
                </a:solidFill>
                <a:latin typeface="Segoe UI"/>
              </a:rPr>
              <a:t> re-runs a stage against the manifest the last run left on disk.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Scenarios in plain English, tests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STAGE 1–2  ·  WHAT TO COVER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5120640" cy="3063240"/>
          </a:xfrm>
          <a:prstGeom prst="roundRect">
            <a:avLst>
              <a:gd name="adj" fmla="val 5500"/>
            </a:avLst>
          </a:prstGeom>
          <a:solidFill>
            <a:srgbClr val="1E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19072"/>
            <a:ext cx="4718303" cy="2770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C98A8"/>
                </a:solidFill>
                <a:latin typeface="Segoe UI"/>
              </a:rPr>
              <a:t># scenarios/gallery.txt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TEST: A category filter narrows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      the gallery to its proofs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Tags: @smoke @core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Expected: Clicking the macro pill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          lists exactly 2 proofs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7EAF0"/>
                </a:solidFill>
                <a:latin typeface="Segoe UI"/>
              </a:rPr>
              <a:t>Notes: Filtering is a navigation.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C98A8"/>
                </a:solidFill>
                <a:latin typeface="Segoe UI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C98A8"/>
                </a:solidFill>
                <a:latin typeface="Segoe UI"/>
              </a:rPr>
              <a:t>TEST: &lt;next scenario&gt;…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8" y="1627632"/>
            <a:ext cx="552571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10896" indent="-310896">
              <a:spcBef>
                <a:spcPts val="0"/>
              </a:spcBef>
              <a:spcAft>
                <a:spcPts val="18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Plain English.</a:t>
            </a:r>
            <a:r>
              <a:rPr sz="1900">
                <a:solidFill>
                  <a:srgbClr val="212630"/>
                </a:solidFill>
                <a:latin typeface="Segoe UI"/>
              </a:rPr>
              <a:t> Anyone can write and review one.</a:t>
            </a:r>
          </a:p>
          <a:p>
            <a:pPr marL="310896" indent="-310896">
              <a:spcBef>
                <a:spcPts val="0"/>
              </a:spcBef>
              <a:spcAft>
                <a:spcPts val="18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Tags come from the file.</a:t>
            </a:r>
            <a:r>
              <a:rPr sz="1900">
                <a:solidFill>
                  <a:srgbClr val="212630"/>
                </a:solidFill>
                <a:latin typeface="Segoe UI"/>
              </a:rPr>
              <a:t> Never from the model.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Generated code sits in a managed region.</a:t>
            </a:r>
            <a:r>
              <a:rPr sz="1900">
                <a:solidFill>
                  <a:srgbClr val="212630"/>
                </a:solidFill>
                <a:latin typeface="Segoe UI"/>
              </a:rPr>
              <a:t> Outside it, a human wrote the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8" y="4224528"/>
            <a:ext cx="55257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26B7A"/>
                </a:solidFill>
                <a:latin typeface="Segoe UI"/>
              </a:rPr>
              <a:t>Four verdicts, per scenario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7896"/>
                </a:solidFill>
                <a:latin typeface="Segoe UI"/>
              </a:rPr>
              <a:t>generated</a:t>
            </a:r>
            <a:r>
              <a:rPr sz="1600" b="0">
                <a:solidFill>
                  <a:srgbClr val="9AA2AE"/>
                </a:solidFill>
                <a:latin typeface="Segoe UI"/>
              </a:rPr>
              <a:t>  ·  </a:t>
            </a:r>
            <a:r>
              <a:rPr sz="1600" b="1">
                <a:solidFill>
                  <a:srgbClr val="212630"/>
                </a:solidFill>
                <a:latin typeface="Segoe UI"/>
              </a:rPr>
              <a:t>kept</a:t>
            </a:r>
            <a:r>
              <a:rPr sz="1600" b="0">
                <a:solidFill>
                  <a:srgbClr val="9AA2AE"/>
                </a:solidFill>
                <a:latin typeface="Segoe UI"/>
              </a:rPr>
              <a:t>  ·  </a:t>
            </a:r>
            <a:r>
              <a:rPr sz="1600" b="1">
                <a:solidFill>
                  <a:srgbClr val="212630"/>
                </a:solidFill>
                <a:latin typeface="Segoe UI"/>
              </a:rPr>
              <a:t>covered</a:t>
            </a:r>
            <a:r>
              <a:rPr sz="1600" b="0">
                <a:solidFill>
                  <a:srgbClr val="9AA2AE"/>
                </a:solidFill>
                <a:latin typeface="Segoe UI"/>
              </a:rPr>
              <a:t>  ·  </a:t>
            </a:r>
            <a:r>
              <a:rPr sz="1600" b="1">
                <a:solidFill>
                  <a:srgbClr val="B46A00"/>
                </a:solidFill>
                <a:latin typeface="Segoe UI"/>
              </a:rPr>
              <a:t>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230368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230368"/>
            <a:ext cx="64008" cy="731520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76088"/>
            <a:ext cx="106372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2630"/>
                </a:solidFill>
                <a:latin typeface="Segoe UI"/>
              </a:rPr>
              <a:t>Change the scenario, not the spec. </a:t>
            </a:r>
            <a:r>
              <a:rPr sz="1700" b="0">
                <a:solidFill>
                  <a:srgbClr val="626B7A"/>
                </a:solidFill>
                <a:latin typeface="Segoe UI"/>
              </a:rPr>
              <a:t>Hash moved → re-digest. Hash equal → held verbatim.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Assertions live in the page object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STAGE 3–4  ·  BUILD THE VOCABULARY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126480" cy="2377440"/>
          </a:xfrm>
          <a:prstGeom prst="roundRect">
            <a:avLst>
              <a:gd name="adj" fmla="val 5500"/>
            </a:avLst>
          </a:prstGeom>
          <a:solidFill>
            <a:srgbClr val="1E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19072"/>
            <a:ext cx="5724144" cy="2084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test('A category filter narrows the gallery',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   { tag: ['@core', '@smoke']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   async ({ page })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const gallery = new GalleryPage(page);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await gallery.goto();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await gallery.filterByCategory('macro');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  await gallery.expectCardCount(2);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7EAF0"/>
                </a:solidFill>
                <a:latin typeface="Segoe UI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24528"/>
            <a:ext cx="6126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10896" indent="-310896"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800" b="1">
                <a:solidFill>
                  <a:srgbClr val="1C7896"/>
                </a:solidFill>
                <a:latin typeface="Segoe UI"/>
              </a:rPr>
              <a:t>A spec navigates and calls intent methods.</a:t>
            </a:r>
            <a:r>
              <a:rPr sz="1800">
                <a:solidFill>
                  <a:srgbClr val="212630"/>
                </a:solidFill>
                <a:latin typeface="Segoe UI"/>
              </a:rPr>
              <a:t> No expect, no page.locator, no setViewportSize.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800" b="1">
                <a:solidFill>
                  <a:srgbClr val="1C7896"/>
                </a:solidFill>
                <a:latin typeface="Segoe UI"/>
              </a:rPr>
              <a:t>Every assertion carries a message.</a:t>
            </a:r>
            <a:r>
              <a:rPr sz="1800">
                <a:solidFill>
                  <a:srgbClr val="212630"/>
                </a:solidFill>
                <a:latin typeface="Segoe UI"/>
              </a:rPr>
              <a:t> A failure reads as intent, not as two locator strings.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9168" y="1627632"/>
            <a:ext cx="456559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50" b="0">
                <a:solidFill>
                  <a:srgbClr val="626B7A"/>
                </a:solidFill>
                <a:latin typeface="Segoe UI"/>
              </a:rPr>
              <a:t>Why it is load-bearing</a:t>
            </a:r>
          </a:p>
          <a:p>
            <a:pPr marL="310896" indent="-310896">
              <a:spcBef>
                <a:spcPts val="0"/>
              </a:spcBef>
              <a:spcAft>
                <a:spcPts val="2000"/>
              </a:spcAft>
              <a:buNone/>
            </a:pPr>
            <a:r>
              <a:rPr sz="170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700" b="1">
                <a:solidFill>
                  <a:srgbClr val="3A539E"/>
                </a:solidFill>
                <a:latin typeface="Segoe UI"/>
              </a:rPr>
              <a:t>The page object is the capability index.</a:t>
            </a:r>
            <a:r>
              <a:rPr sz="1700">
                <a:solidFill>
                  <a:srgbClr val="212630"/>
                </a:solidFill>
                <a:latin typeface="Segoe UI"/>
              </a:rPr>
              <a:t> Cannot express it → blocked, and no test is written.</a:t>
            </a:r>
          </a:p>
          <a:p>
            <a:pPr marL="310896" indent="-310896">
              <a:spcBef>
                <a:spcPts val="0"/>
              </a:spcBef>
              <a:spcAft>
                <a:spcPts val="2000"/>
              </a:spcAft>
              <a:buNone/>
            </a:pPr>
            <a:r>
              <a:rPr sz="170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700" b="1">
                <a:solidFill>
                  <a:srgbClr val="3A539E"/>
                </a:solidFill>
                <a:latin typeface="Segoe UI"/>
              </a:rPr>
              <a:t>Blocked names what to add.</a:t>
            </a:r>
            <a:r>
              <a:rPr sz="1700">
                <a:solidFill>
                  <a:srgbClr val="212630"/>
                </a:solidFill>
                <a:latin typeface="Segoe UI"/>
              </a:rPr>
              <a:t> A stage-4 work order, not a dead end.</a:t>
            </a:r>
          </a:p>
          <a:p>
            <a:pPr marL="310896" indent="-310896">
              <a:spcBef>
                <a:spcPts val="0"/>
              </a:spcBef>
              <a:spcAft>
                <a:spcPts val="2000"/>
              </a:spcAft>
              <a:buNone/>
            </a:pPr>
            <a:r>
              <a:rPr sz="170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700" b="1">
                <a:solidFill>
                  <a:srgbClr val="3A539E"/>
                </a:solidFill>
                <a:latin typeface="Segoe UI"/>
              </a:rPr>
              <a:t>Only public members count.</a:t>
            </a:r>
            <a:r>
              <a:rPr sz="1700">
                <a:solidFill>
                  <a:srgbClr val="212630"/>
                </a:solidFill>
                <a:latin typeface="Segoe UI"/>
              </a:rPr>
              <a:t> A private helper is not a capability.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700" b="1">
                <a:solidFill>
                  <a:srgbClr val="3A539E"/>
                </a:solidFill>
                <a:latin typeface="Segoe UI"/>
              </a:rPr>
              <a:t>Stage 3 drives the live app</a:t>
            </a:r>
            <a:r>
              <a:rPr sz="1700">
                <a:solidFill>
                  <a:srgbClr val="212630"/>
                </a:solidFill>
                <a:latin typeface="Segoe UI"/>
              </a:rPr>
              <a:t> and appends what it learned to instruction.md.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What actually gets run today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STAGE 5–6  ·  RUN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5783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10896" indent="-310896">
              <a:spcBef>
                <a:spcPts val="0"/>
              </a:spcBef>
              <a:spcAft>
                <a:spcPts val="1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Tags come from the scenario.</a:t>
            </a:r>
            <a:r>
              <a:rPr sz="1900">
                <a:solidFill>
                  <a:srgbClr val="212630"/>
                </a:solidFill>
                <a:latin typeface="Segoe UI"/>
              </a:rPr>
              <a:t> A model that forgot one would hand you a smaller green run.</a:t>
            </a:r>
          </a:p>
          <a:p>
            <a:pPr marL="310896" indent="-310896">
              <a:spcBef>
                <a:spcPts val="0"/>
              </a:spcBef>
              <a:spcAft>
                <a:spcPts val="1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The agent proposes; the code decides.</a:t>
            </a:r>
            <a:r>
              <a:rPr sz="1900">
                <a:solidFill>
                  <a:srgbClr val="212630"/>
                </a:solidFill>
                <a:latin typeface="Segoe UI"/>
              </a:rPr>
              <a:t> smoke · sanity · regression — a name, never a grep.</a:t>
            </a:r>
          </a:p>
          <a:p>
            <a:pPr marL="310896" indent="-310896">
              <a:spcBef>
                <a:spcPts val="0"/>
              </a:spcBef>
              <a:spcAft>
                <a:spcPts val="1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Tag filter, not title filter.</a:t>
            </a:r>
            <a:r>
              <a:rPr sz="1900">
                <a:solidFill>
                  <a:srgbClr val="212630"/>
                </a:solidFill>
                <a:latin typeface="Segoe UI"/>
              </a:rPr>
              <a:t> A rewritten title cannot drop a test.</a:t>
            </a:r>
          </a:p>
          <a:p>
            <a:pPr marL="310896" indent="-310896">
              <a:spcBef>
                <a:spcPts val="0"/>
              </a:spcBef>
              <a:spcAft>
                <a:spcPts val="1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Everything generated this run always runs.</a:t>
            </a:r>
            <a:r>
              <a:rPr sz="1900">
                <a:solidFill>
                  <a:srgbClr val="212630"/>
                </a:solidFill>
                <a:latin typeface="Segoe UI"/>
              </a:rPr>
              <a:t> Stage 2 stamps @YYYYMMDD, the planner puts it in the grep.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900" b="1">
                <a:solidFill>
                  <a:srgbClr val="1C7896"/>
                </a:solidFill>
                <a:latin typeface="Segoe UI"/>
              </a:rPr>
              <a:t>A human's TEST_GREP wins outright.</a:t>
            </a:r>
            <a:r>
              <a:rPr sz="1900">
                <a:solidFill>
                  <a:srgbClr val="212630"/>
                </a:solidFill>
                <a:latin typeface="Segoe UI"/>
              </a:rPr>
              <a:t> Agent skipped, floor waived — and the report says 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047488"/>
            <a:ext cx="11057839" cy="768096"/>
          </a:xfrm>
          <a:prstGeom prst="roundRect">
            <a:avLst>
              <a:gd name="adj" fmla="val 10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047488"/>
            <a:ext cx="64008" cy="768096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93207"/>
            <a:ext cx="1063721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6A00"/>
                </a:solidFill>
                <a:latin typeface="Segoe UI"/>
              </a:rPr>
              <a:t>The failure to watch for is not a red run. </a:t>
            </a:r>
            <a:r>
              <a:rPr sz="1700" b="0">
                <a:solidFill>
                  <a:srgbClr val="626B7A"/>
                </a:solidFill>
                <a:latin typeface="Segoe UI"/>
              </a:rPr>
              <a:t>It is a smaller green run: all that ran passed, and the test that would have failed never ran.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When the app moves and the selector doesn't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STAGE 7  ·  REPAIR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5277459" cy="31089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4765395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50" b="0">
                <a:solidFill>
                  <a:srgbClr val="1C7896"/>
                </a:solidFill>
                <a:latin typeface="Segoe UI"/>
              </a:rPr>
              <a:t>How it heals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600" b="1">
                <a:solidFill>
                  <a:srgbClr val="1C7896"/>
                </a:solidFill>
                <a:latin typeface="Segoe UI"/>
              </a:rPr>
              <a:t>this.loc(css)</a:t>
            </a:r>
            <a:r>
              <a:rPr sz="1600">
                <a:solidFill>
                  <a:srgbClr val="212630"/>
                </a:solidFill>
                <a:latin typeface="Segoe UI"/>
              </a:rPr>
              <a:t> narrow the selector that broke.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600" b="1">
                <a:solidFill>
                  <a:srgbClr val="1C7896"/>
                </a:solidFill>
                <a:latin typeface="Segoe UI"/>
              </a:rPr>
              <a:t>this.byCopy(text)</a:t>
            </a:r>
            <a:r>
              <a:rPr sz="1600">
                <a:solidFill>
                  <a:srgbClr val="212630"/>
                </a:solidFill>
                <a:latin typeface="Segoe UI"/>
              </a:rPr>
              <a:t> the nearest on-page copy, uniquely.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600" b="1">
                <a:solidFill>
                  <a:srgbClr val="1C7896"/>
                </a:solidFill>
                <a:latin typeface="Segoe UI"/>
              </a:rPr>
              <a:t>No model in the path.</a:t>
            </a:r>
            <a:r>
              <a:rPr sz="1600">
                <a:solidFill>
                  <a:srgbClr val="212630"/>
                </a:solidFill>
                <a:latin typeface="Segoe UI"/>
              </a:rPr>
              <a:t> A wrong guess passes on the wrong element.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7307" y="1536192"/>
            <a:ext cx="5277459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3339" y="1719072"/>
            <a:ext cx="4765395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50" b="0">
                <a:solidFill>
                  <a:srgbClr val="B46A00"/>
                </a:solidFill>
                <a:latin typeface="Segoe UI"/>
              </a:rPr>
              <a:t>When it refuses — also the job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B46A00"/>
                </a:solidFill>
                <a:latin typeface="Segoe UI"/>
              </a:rPr>
              <a:t>▪   </a:t>
            </a:r>
            <a:r>
              <a:rPr sz="1600" b="1">
                <a:solidFill>
                  <a:srgbClr val="B46A00"/>
                </a:solidFill>
                <a:latin typeface="Segoe UI"/>
              </a:rPr>
              <a:t>The feature is gone.</a:t>
            </a:r>
            <a:r>
              <a:rPr sz="1600">
                <a:solidFill>
                  <a:srgbClr val="212630"/>
                </a:solidFill>
                <a:latin typeface="Segoe UI"/>
              </a:rPr>
              <a:t> A real failure, for a human.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B46A00"/>
                </a:solidFill>
                <a:latin typeface="Segoe UI"/>
              </a:rPr>
              <a:t>▪   </a:t>
            </a:r>
            <a:r>
              <a:rPr sz="1600" b="1">
                <a:solidFill>
                  <a:srgbClr val="B46A00"/>
                </a:solidFill>
                <a:latin typeface="Segoe UI"/>
              </a:rPr>
              <a:t>A timing failure.</a:t>
            </a:r>
            <a:r>
              <a:rPr sz="1600">
                <a:solidFill>
                  <a:srgbClr val="212630"/>
                </a:solidFill>
                <a:latin typeface="Segoe UI"/>
              </a:rPr>
              <a:t> A test bug, not a locator bug.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B46A00"/>
                </a:solidFill>
                <a:latin typeface="Segoe UI"/>
              </a:rPr>
              <a:t>▪   </a:t>
            </a:r>
            <a:r>
              <a:rPr sz="1600" b="1">
                <a:solidFill>
                  <a:srgbClr val="B46A00"/>
                </a:solidFill>
                <a:latin typeface="Segoe UI"/>
              </a:rPr>
              <a:t>The wrong locale.</a:t>
            </a:r>
            <a:r>
              <a:rPr sz="1600">
                <a:solidFill>
                  <a:srgbClr val="212630"/>
                </a:solidFill>
                <a:latin typeface="Segoe UI"/>
              </a:rPr>
              <a:t> /id “Portofolio” is 0.90 like /en “Portfolio”.</a:t>
            </a:r>
          </a:p>
          <a:p>
            <a:pPr marL="310896" indent="-310896"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B46A00"/>
                </a:solidFill>
                <a:latin typeface="Segoe UI"/>
              </a:rPr>
              <a:t>▪   </a:t>
            </a:r>
            <a:r>
              <a:rPr sz="1600" b="1">
                <a:solidFill>
                  <a:srgbClr val="B46A00"/>
                </a:solidFill>
                <a:latin typeface="Segoe UI"/>
              </a:rPr>
              <a:t>Named reasons.</a:t>
            </a:r>
            <a:r>
              <a:rPr sz="1600">
                <a:solidFill>
                  <a:srgbClr val="212630"/>
                </a:solidFill>
                <a:latin typeface="Segoe UI"/>
              </a:rPr>
              <a:t> no-candidate · ambiguous · not-unique · locale-mismatch.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46320"/>
            <a:ext cx="11057839" cy="603504"/>
          </a:xfrm>
          <a:prstGeom prst="roundRect">
            <a:avLst>
              <a:gd name="adj" fmla="val 5500"/>
            </a:avLst>
          </a:prstGeom>
          <a:solidFill>
            <a:srgbClr val="1E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992624"/>
            <a:ext cx="106555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[self-heal] 1 locator repaired:  'Macroz and Product Photographer' → 'Macro and Product Photographer'   (the test passed on 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596128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96128"/>
            <a:ext cx="64008" cy="694944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41848"/>
            <a:ext cx="1063721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2630"/>
                </a:solidFill>
                <a:latin typeface="Segoe UI"/>
              </a:rPr>
              <a:t>A heal is only as good as the test that used it. </a:t>
            </a:r>
            <a:r>
              <a:rPr sz="1600" b="0">
                <a:solidFill>
                  <a:srgbClr val="626B7A"/>
                </a:solidFill>
                <a:latin typeface="Segoe UI"/>
              </a:rPr>
              <a:t>Only a repair whose test passed is written into the source; a failed one is declined and named.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The bug class this is all built against: the silent green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WHY THE GATES EXIST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81328"/>
          <a:ext cx="11055096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/>
                <a:gridCol w="5349240"/>
                <a:gridCol w="268833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It looked like this…</a:t>
                      </a:r>
                    </a:p>
                  </a:txBody>
                  <a:tcPr marL="128016" marR="91440" marT="36576" marB="36576" anchor="ctr">
                    <a:solidFill>
                      <a:srgbClr val="17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it actually was</a:t>
                      </a:r>
                    </a:p>
                  </a:txBody>
                  <a:tcPr marL="128016" marR="91440" marT="36576" marB="36576" anchor="ctr">
                    <a:solidFill>
                      <a:srgbClr val="17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Caught by</a:t>
                      </a:r>
                    </a:p>
                  </a:txBody>
                  <a:tcPr marL="128016" marR="91440" marT="36576" marB="36576" anchor="ctr">
                    <a:solidFill>
                      <a:srgbClr val="171B2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Test passed, no visual error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A 300px widget in a 276px column spilled 24px; the document never widened.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Measuring elements, not the document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“Already covered”, no change made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A stale block vouched for itself with its own title.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The block hash decides first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Locator healed, test passed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The repair pointed at the neighbour, and the assertion then failed.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Only a test-passed repair is written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--grep @core passed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An untagged test was never selected at all.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Tags re-applied from the scenario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“Waited for the widget, passed”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Turnstile never renders in an automated browser; nothing was measured.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Assert the contract, not the widget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The capability looked fine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A private helper was offered as a capability the model could call.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2630"/>
                          </a:solidFill>
                          <a:latin typeface="Segoe UI"/>
                        </a:rPr>
                        <a:t>Only public members are advertised</a:t>
                      </a:r>
                    </a:p>
                  </a:txBody>
                  <a:tcPr marL="128016" marR="91440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579729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797296"/>
            <a:ext cx="64008" cy="566928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843016"/>
            <a:ext cx="10637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2630"/>
                </a:solidFill>
                <a:latin typeface="Segoe UI"/>
              </a:rPr>
              <a:t>Every gate here is a matcher over the output. </a:t>
            </a:r>
            <a:r>
              <a:rPr sz="1500" b="0">
                <a:solidFill>
                  <a:srgbClr val="626B7A"/>
                </a:solidFill>
                <a:latin typeface="Segoe UI"/>
              </a:rPr>
              <a:t>A prompt forbidding something is a suggestion; a matcher is enforcement.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AI proposes. Code enforces.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THE DIVISION OF LABOUR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44752"/>
            <a:ext cx="5277459" cy="3182112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5277459" cy="68580"/>
          </a:xfrm>
          <a:prstGeom prst="rect">
            <a:avLst/>
          </a:prstGeom>
          <a:solidFill>
            <a:srgbClr val="3A5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728819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3A539E"/>
                </a:solidFill>
                <a:latin typeface="Segoe UI"/>
              </a:rPr>
              <a:t>AI's job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Draft scenarios from the issue and the diff (1)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Write the test block from the scenario (2)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Judge coverage and buildability (3–4)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Pick a scope — a CI-only change is a deployment check (5)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3A539E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Read the app in a browser, record what it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7307" y="1444752"/>
            <a:ext cx="5277459" cy="3182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47307" y="1444752"/>
            <a:ext cx="5277459" cy="68580"/>
          </a:xfrm>
          <a:prstGeom prst="rect">
            <a:avLst/>
          </a:prstGeom>
          <a:solidFill>
            <a:srgbClr val="1C7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1682496"/>
            <a:ext cx="4728819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7896"/>
                </a:solidFill>
                <a:latin typeface="Segoe UI"/>
              </a:rPr>
              <a:t>Code's job — never the prompt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The block hash decides hold / re-digest / classify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Tags re-applied from the scenario, every run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Claimed capabilities matched against the real surface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Generated code stays inside the managed region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Degraded input fails open, named; malformed throws</a:t>
            </a:r>
          </a:p>
          <a:p>
            <a:pPr marL="292608" indent="-292608">
              <a:spcAft>
                <a:spcPts val="1000"/>
              </a:spcAft>
              <a:buNone/>
            </a:pPr>
            <a:r>
              <a:rPr sz="145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50">
                <a:solidFill>
                  <a:srgbClr val="212630"/>
                </a:solidFill>
                <a:latin typeface="Segoe UI"/>
              </a:rPr>
              <a:t>A run that dies still sends its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73168"/>
            <a:ext cx="11057839" cy="676656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773168"/>
            <a:ext cx="64008" cy="676656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818888"/>
            <a:ext cx="1063721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2630"/>
                </a:solidFill>
                <a:latin typeface="Segoe UI"/>
              </a:rPr>
              <a:t>Two statuses, never one. </a:t>
            </a:r>
            <a:r>
              <a:rPr sz="1600" b="0">
                <a:solidFill>
                  <a:srgbClr val="626B7A"/>
                </a:solidFill>
                <a:latin typeface="Segoe UI"/>
              </a:rPr>
              <a:t>Testing Status is the product · Pipeline Status is the process. A failed test leaves every stage succeeded.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59552"/>
            <a:ext cx="11057839" cy="676656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559552"/>
            <a:ext cx="64008" cy="676656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05272"/>
            <a:ext cx="1063721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7896"/>
                </a:solidFill>
                <a:latin typeface="Segoe UI"/>
              </a:rPr>
              <a:t>89 invariants run in seconds, no browser. </a:t>
            </a:r>
            <a:r>
              <a:rPr sz="1600" b="0">
                <a:solidFill>
                  <a:srgbClr val="212630"/>
                </a:solidFill>
                <a:latin typeface="Segoe UI"/>
              </a:rPr>
              <a:t>npm run self-checks</a:t>
            </a:r>
            <a:r>
              <a:rPr sz="1600" b="0">
                <a:solidFill>
                  <a:srgbClr val="626B7A"/>
                </a:solidFill>
                <a:latin typeface="Segoe UI"/>
              </a:rPr>
              <a:t> — added whenever the failure would have been silent.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1B23"/>
                </a:solidFill>
                <a:latin typeface="Segoe UI"/>
              </a:rPr>
              <a:t>Where it stands — and running it yourself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A2AE"/>
                </a:solidFill>
                <a:latin typeface="Segoe UI"/>
              </a:rPr>
              <a:t>CURRENT STATE  ·  HANDS-ON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777240" cy="41148"/>
          </a:xfrm>
          <a:prstGeom prst="roundRect">
            <a:avLst>
              <a:gd name="adj" fmla="val 50000"/>
            </a:avLst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5277459" cy="3035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64208"/>
            <a:ext cx="4728819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26B7A"/>
                </a:solidFill>
                <a:latin typeface="Segoe UI"/>
              </a:rPr>
              <a:t>As of today, in this repo</a:t>
            </a:r>
          </a:p>
          <a:p>
            <a:pPr marL="310896" indent="-310896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00" b="1">
                <a:solidFill>
                  <a:srgbClr val="1C7896"/>
                </a:solidFill>
                <a:latin typeface="Segoe UI"/>
              </a:rPr>
              <a:t>2 domains</a:t>
            </a:r>
            <a:r>
              <a:rPr sz="1400">
                <a:solidFill>
                  <a:srgbClr val="212630"/>
                </a:solidFill>
                <a:latin typeface="Segoe UI"/>
              </a:rPr>
              <a:t> · 24 scenarios · 24 tests</a:t>
            </a:r>
          </a:p>
          <a:p>
            <a:pPr marL="310896" indent="-310896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00" b="1">
                <a:solidFill>
                  <a:srgbClr val="1C7896"/>
                </a:solidFill>
                <a:latin typeface="Segoe UI"/>
              </a:rPr>
              <a:t>89 self-check invariants</a:t>
            </a:r>
            <a:r>
              <a:rPr sz="1400">
                <a:solidFill>
                  <a:srgbClr val="212630"/>
                </a:solidFill>
                <a:latin typeface="Segoe UI"/>
              </a:rPr>
              <a:t> in seconds, no browser</a:t>
            </a:r>
          </a:p>
          <a:p>
            <a:pPr marL="310896" indent="-310896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00" b="1">
                <a:solidFill>
                  <a:srgbClr val="1C7896"/>
                </a:solidFill>
                <a:latin typeface="Segoe UI"/>
              </a:rPr>
              <a:t>Last run: 24 scenarios, 24 kept</a:t>
            </a:r>
            <a:r>
              <a:rPr sz="1400">
                <a:solidFill>
                  <a:srgbClr val="212630"/>
                </a:solidFill>
                <a:latin typeface="Segoe UI"/>
              </a:rPr>
              <a:t> — nothing needed regenerating</a:t>
            </a:r>
          </a:p>
          <a:p>
            <a:pPr marL="310896" indent="-310896"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00" b="1">
                <a:solidFill>
                  <a:srgbClr val="1C7896"/>
                </a:solidFill>
                <a:latin typeface="Segoe UI"/>
              </a:rPr>
              <a:t>Suite: 23 passed, 1 failed</a:t>
            </a:r>
            <a:r>
              <a:rPr sz="1400">
                <a:solidFill>
                  <a:srgbClr val="212630"/>
                </a:solidFill>
                <a:latin typeface="Segoe UI"/>
              </a:rPr>
              <a:t> — a real defect: a 276px slot under a 300px widget</a:t>
            </a:r>
          </a:p>
          <a:p>
            <a:pPr marL="310896" indent="-310896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>
                <a:solidFill>
                  <a:srgbClr val="1C7896"/>
                </a:solidFill>
                <a:latin typeface="Segoe UI"/>
              </a:rPr>
              <a:t>▪   </a:t>
            </a:r>
            <a:r>
              <a:rPr sz="1400" b="1">
                <a:solidFill>
                  <a:srgbClr val="1C7896"/>
                </a:solidFill>
                <a:latin typeface="Segoe UI"/>
              </a:rPr>
              <a:t>DEBUG=true</a:t>
            </a:r>
            <a:r>
              <a:rPr sz="1400">
                <a:solidFill>
                  <a:srgbClr val="212630"/>
                </a:solidFill>
                <a:latin typeface="Segoe UI"/>
              </a:rPr>
              <a:t> narrates a run, AI calls as request/response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7307" y="1463040"/>
            <a:ext cx="5277459" cy="3035808"/>
          </a:xfrm>
          <a:prstGeom prst="roundRect">
            <a:avLst>
              <a:gd name="adj" fmla="val 7000"/>
            </a:avLst>
          </a:prstGeom>
          <a:solidFill>
            <a:srgbClr val="1E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1627" y="1700784"/>
            <a:ext cx="4728819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Try it — the whole loop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npm ci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cp .env.example .env     # BASE_URL, MODEL_API_KEY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npm run self-checks      # cheap gates, no browser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npm test                 # the whole suite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npm run pipeline -- --pr 123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7EAF0"/>
                </a:solidFill>
                <a:latin typeface="Segoe UI"/>
              </a:rPr>
              <a:t>npm run stage:2          # re-run ONE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81728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81728"/>
            <a:ext cx="64008" cy="713232"/>
          </a:xfrm>
          <a:prstGeom prst="rect">
            <a:avLst/>
          </a:prstGeom>
          <a:solidFill>
            <a:srgbClr val="43B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727448"/>
            <a:ext cx="106372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C7896"/>
                </a:solidFill>
                <a:latin typeface="Segoe UI"/>
              </a:rPr>
              <a:t>Hands-on, next 60 minutes: </a:t>
            </a:r>
            <a:r>
              <a:rPr sz="1500" b="0">
                <a:solidFill>
                  <a:srgbClr val="626B7A"/>
                </a:solidFill>
                <a:latin typeface="Segoe UI"/>
              </a:rPr>
              <a:t>read a scenario → run stage 2 and watch the test appear → break a locator and watch it heal → watch it refuse a bad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504688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504688"/>
            <a:ext cx="64008" cy="658368"/>
          </a:xfrm>
          <a:prstGeom prst="rect">
            <a:avLst/>
          </a:prstGeom>
          <a:solidFill>
            <a:srgbClr val="9AA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550407"/>
            <a:ext cx="106372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2630"/>
                </a:solidFill>
                <a:latin typeface="Segoe UI"/>
              </a:rPr>
              <a:t>The three files worth reading first: </a:t>
            </a:r>
            <a:r>
              <a:rPr sz="1500" b="0">
                <a:solidFill>
                  <a:srgbClr val="1C7896"/>
                </a:solidFill>
                <a:latin typeface="Segoe UI"/>
              </a:rPr>
              <a:t>README.md</a:t>
            </a:r>
            <a:r>
              <a:rPr sz="1500" b="0">
                <a:solidFill>
                  <a:srgbClr val="626B7A"/>
                </a:solidFill>
                <a:latin typeface="Segoe UI"/>
              </a:rPr>
              <a:t> (how to run it), </a:t>
            </a:r>
            <a:r>
              <a:rPr sz="1500" b="0">
                <a:solidFill>
                  <a:srgbClr val="1C7896"/>
                </a:solidFill>
                <a:latin typeface="Segoe UI"/>
              </a:rPr>
              <a:t>WORKFLOW.md</a:t>
            </a:r>
            <a:r>
              <a:rPr sz="1500" b="0">
                <a:solidFill>
                  <a:srgbClr val="626B7A"/>
                </a:solidFill>
                <a:latin typeface="Segoe UI"/>
              </a:rPr>
              <a:t> (the diagrams), </a:t>
            </a:r>
            <a:r>
              <a:rPr sz="1500" b="0">
                <a:solidFill>
                  <a:srgbClr val="1C7896"/>
                </a:solidFill>
                <a:latin typeface="Segoe UI"/>
              </a:rPr>
              <a:t>pipeline-pattern.md</a:t>
            </a:r>
            <a:r>
              <a:rPr sz="1500" b="0">
                <a:solidFill>
                  <a:srgbClr val="626B7A"/>
                </a:solidFill>
                <a:latin typeface="Segoe UI"/>
              </a:rPr>
              <a:t> (why each gate is where it is).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2AE"/>
                </a:solidFill>
                <a:latin typeface="Segoe UI"/>
              </a:rPr>
              <a:t>Playwright × AI  ·  QA workshop</a:t>
            </a:r>
            <a:r>
              <a:rPr sz="1050" b="0">
                <a:solidFill>
                  <a:srgbClr val="9AA2AE"/>
                </a:solidFill>
                <a:latin typeface="Segoe UI"/>
              </a:rPr>
              <a:t>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